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69.xml" ContentType="application/vnd.openxmlformats-officedocument.presentationml.slide+xml"/>
  <Override PartName="/ppt/slides/slide7.xml" ContentType="application/vnd.openxmlformats-officedocument.presentationml.slide+xml"/>
  <Override PartName="/ppt/slides/slide70.xml" ContentType="application/vnd.openxmlformats-officedocument.presentationml.slide+xml"/>
  <Override PartName="/ppt/slides/slide71.xml" ContentType="application/vnd.openxmlformats-officedocument.presentationml.slide+xml"/>
  <Override PartName="/ppt/slides/slide72.xml" ContentType="application/vnd.openxmlformats-officedocument.presentationml.slide+xml"/>
  <Override PartName="/ppt/slides/slide73.xml" ContentType="application/vnd.openxmlformats-officedocument.presentationml.slide+xml"/>
  <Override PartName="/ppt/slides/slide74.xml" ContentType="application/vnd.openxmlformats-officedocument.presentationml.slide+xml"/>
  <Override PartName="/ppt/slides/slide75.xml" ContentType="application/vnd.openxmlformats-officedocument.presentationml.slide+xml"/>
  <Override PartName="/ppt/slides/slide76.xml" ContentType="application/vnd.openxmlformats-officedocument.presentationml.slide+xml"/>
  <Override PartName="/ppt/slides/slide77.xml" ContentType="application/vnd.openxmlformats-officedocument.presentationml.slide+xml"/>
  <Override PartName="/ppt/slides/slide78.xml" ContentType="application/vnd.openxmlformats-officedocument.presentationml.slide+xml"/>
  <Override PartName="/ppt/slides/slide79.xml" ContentType="application/vnd.openxmlformats-officedocument.presentationml.slide+xml"/>
  <Override PartName="/ppt/slides/slide8.xml" ContentType="application/vnd.openxmlformats-officedocument.presentationml.slide+xml"/>
  <Override PartName="/ppt/slides/slide80.xml" ContentType="application/vnd.openxmlformats-officedocument.presentationml.slide+xml"/>
  <Override PartName="/ppt/slides/slide81.xml" ContentType="application/vnd.openxmlformats-officedocument.presentationml.slide+xml"/>
  <Override PartName="/ppt/slides/slide82.xml" ContentType="application/vnd.openxmlformats-officedocument.presentationml.slide+xml"/>
  <Override PartName="/ppt/slides/slide83.xml" ContentType="application/vnd.openxmlformats-officedocument.presentationml.slide+xml"/>
  <Override PartName="/ppt/slides/slide84.xml" ContentType="application/vnd.openxmlformats-officedocument.presentationml.slide+xml"/>
  <Override PartName="/ppt/slides/slide86.xml" ContentType="application/vnd.openxmlformats-officedocument.presentationml.slide+xml"/>
  <Override PartName="/ppt/slides/slide87.xml" ContentType="application/vnd.openxmlformats-officedocument.presentationml.slide+xml"/>
  <Override PartName="/ppt/slides/slide88.xml" ContentType="application/vnd.openxmlformats-officedocument.presentationml.slide+xml"/>
  <Override PartName="/ppt/slides/slide89.xml" ContentType="application/vnd.openxmlformats-officedocument.presentationml.slide+xml"/>
  <Override PartName="/ppt/slides/slide9.xml" ContentType="application/vnd.openxmlformats-officedocument.presentationml.slide+xml"/>
  <Override PartName="/ppt/slides/slide90.xml" ContentType="application/vnd.openxmlformats-officedocument.presentationml.slide+xml"/>
  <Override PartName="/ppt/slides/slide91.xml" ContentType="application/vnd.openxmlformats-officedocument.presentationml.slide+xml"/>
  <Override PartName="/ppt/slides/slide92.xml" ContentType="application/vnd.openxmlformats-officedocument.presentationml.slide+xml"/>
  <Override PartName="/ppt/slides/slide93.xml" ContentType="application/vnd.openxmlformats-officedocument.presentationml.slide+xml"/>
  <Override PartName="/ppt/slides/slide94.xml" ContentType="application/vnd.openxmlformats-officedocument.presentationml.slide+xml"/>
  <Override PartName="/ppt/slides/slide95.xml" ContentType="application/vnd.openxmlformats-officedocument.presentationml.slide+xml"/>
  <Override PartName="/ppt/slides/slide96.xml" ContentType="application/vnd.openxmlformats-officedocument.presentationml.slide+xml"/>
  <Override PartName="/ppt/slides/slide97.xml" ContentType="application/vnd.openxmlformats-officedocument.presentationml.slide+xml"/>
  <Override PartName="/ppt/slides/slide98.xml" ContentType="application/vnd.openxmlformats-officedocument.presentationml.slide+xml"/>
  <Override PartName="/ppt/slides/slide9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  <Override PartName="/ppt/slides/slide100.xml" ContentType="application/vnd.openxmlformats-officedocument.presentationml.slide+xml"/>
  <Override PartName="/ppt/slides/slide101.xml" ContentType="application/vnd.openxmlformats-officedocument.presentationml.slide+xml"/>
  <Override PartName="/ppt/slides/slide102.xml" ContentType="application/vnd.openxmlformats-officedocument.presentationml.slide+xml"/>
  <Override PartName="/ppt/slides/slide103.xml" ContentType="application/vnd.openxmlformats-officedocument.presentationml.slide+xml"/>
  <Override PartName="/ppt/slides/slide104.xml" ContentType="application/vnd.openxmlformats-officedocument.presentationml.slide+xml"/>
  <Override PartName="/ppt/slides/slide105.xml" ContentType="application/vnd.openxmlformats-officedocument.presentationml.slide+xml"/>
  <Override PartName="/ppt/slides/slide106.xml" ContentType="application/vnd.openxmlformats-officedocument.presentationml.slide+xml"/>
  <Override PartName="/ppt/slides/slide107.xml" ContentType="application/vnd.openxmlformats-officedocument.presentationml.slide+xml"/>
  <Override PartName="/ppt/slides/slide108.xml" ContentType="application/vnd.openxmlformats-officedocument.presentationml.slide+xml"/>
  <Override PartName="/ppt/slides/slide109.xml" ContentType="application/vnd.openxmlformats-officedocument.presentationml.slide+xml"/>
  <Override PartName="/ppt/slides/slide110.xml" ContentType="application/vnd.openxmlformats-officedocument.presentationml.slide+xml"/>
  <Override PartName="/ppt/slides/slide111.xml" ContentType="application/vnd.openxmlformats-officedocument.presentationml.slide+xml"/>
  <Override PartName="/ppt/slides/slide112.xml" ContentType="application/vnd.openxmlformats-officedocument.presentationml.slide+xml"/>
  <Override PartName="/ppt/slides/slide113.xml" ContentType="application/vnd.openxmlformats-officedocument.presentationml.slide+xml"/>
  <Override PartName="/ppt/slides/slide114.xml" ContentType="application/vnd.openxmlformats-officedocument.presentationml.slide+xml"/>
  <Override PartName="/ppt/slides/slide115.xml" ContentType="application/vnd.openxmlformats-officedocument.presentationml.slide+xml"/>
  <Override PartName="/ppt/slides/slide116.xml" ContentType="application/vnd.openxmlformats-officedocument.presentationml.slide+xml"/>
  <Override PartName="/ppt/slides/slide117.xml" ContentType="application/vnd.openxmlformats-officedocument.presentationml.slide+xml"/>
  <Override PartName="/ppt/slides/slide118.xml" ContentType="application/vnd.openxmlformats-officedocument.presentationml.slide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  <p:sldId id="266" r:id="rId17"/>
    <p:sldId id="267" r:id="rId18"/>
    <p:sldId id="268" r:id="rId19"/>
    <p:sldId id="269" r:id="rId20"/>
    <p:sldId id="270" r:id="rId21"/>
    <p:sldId id="271" r:id="rId22"/>
    <p:sldId id="272" r:id="rId23"/>
    <p:sldId id="273" r:id="rId24"/>
    <p:sldId id="355" r:id="rId106"/>
    <p:sldId id="274" r:id="rId25"/>
    <p:sldId id="275" r:id="rId26"/>
    <p:sldId id="276" r:id="rId27"/>
    <p:sldId id="277" r:id="rId28"/>
    <p:sldId id="278" r:id="rId29"/>
    <p:sldId id="279" r:id="rId30"/>
    <p:sldId id="280" r:id="rId31"/>
    <p:sldId id="281" r:id="rId32"/>
    <p:sldId id="282" r:id="rId33"/>
    <p:sldId id="283" r:id="rId34"/>
    <p:sldId id="359" r:id="rId110"/>
    <p:sldId id="284" r:id="rId35"/>
    <p:sldId id="285" r:id="rId36"/>
    <p:sldId id="286" r:id="rId37"/>
    <p:sldId id="356" r:id="rId107"/>
    <p:sldId id="287" r:id="rId38"/>
    <p:sldId id="288" r:id="rId39"/>
    <p:sldId id="289" r:id="rId40"/>
    <p:sldId id="290" r:id="rId41"/>
    <p:sldId id="291" r:id="rId42"/>
    <p:sldId id="292" r:id="rId43"/>
    <p:sldId id="293" r:id="rId44"/>
    <p:sldId id="294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57" r:id="rId108"/>
    <p:sldId id="305" r:id="rId56"/>
    <p:sldId id="306" r:id="rId57"/>
    <p:sldId id="307" r:id="rId58"/>
    <p:sldId id="308" r:id="rId59"/>
    <p:sldId id="309" r:id="rId60"/>
    <p:sldId id="352" r:id="rId103"/>
    <p:sldId id="310" r:id="rId61"/>
    <p:sldId id="311" r:id="rId62"/>
    <p:sldId id="312" r:id="rId63"/>
    <p:sldId id="313" r:id="rId64"/>
    <p:sldId id="314" r:id="rId65"/>
    <p:sldId id="315" r:id="rId66"/>
    <p:sldId id="358" r:id="rId109"/>
    <p:sldId id="316" r:id="rId67"/>
    <p:sldId id="317" r:id="rId68"/>
    <p:sldId id="318" r:id="rId69"/>
    <p:sldId id="319" r:id="rId70"/>
    <p:sldId id="320" r:id="rId71"/>
    <p:sldId id="353" r:id="rId104"/>
    <p:sldId id="321" r:id="rId72"/>
    <p:sldId id="322" r:id="rId73"/>
    <p:sldId id="323" r:id="rId74"/>
    <p:sldId id="324" r:id="rId75"/>
    <p:sldId id="325" r:id="rId76"/>
    <p:sldId id="326" r:id="rId77"/>
    <p:sldId id="327" r:id="rId78"/>
    <p:sldId id="328" r:id="rId79"/>
    <p:sldId id="329" r:id="rId80"/>
    <p:sldId id="330" r:id="rId81"/>
    <p:sldId id="331" r:id="rId82"/>
    <p:sldId id="332" r:id="rId83"/>
    <p:sldId id="339" r:id="rId90"/>
    <p:sldId id="340" r:id="rId91"/>
    <p:sldId id="341" r:id="rId92"/>
    <p:sldId id="342" r:id="rId93"/>
    <p:sldId id="360" r:id="rId111"/>
    <p:sldId id="343" r:id="rId94"/>
    <p:sldId id="361" r:id="rId112"/>
    <p:sldId id="345" r:id="rId96"/>
    <p:sldId id="346" r:id="rId97"/>
    <p:sldId id="347" r:id="rId98"/>
    <p:sldId id="348" r:id="rId99"/>
    <p:sldId id="349" r:id="rId100"/>
    <p:sldId id="350" r:id="rId101"/>
    <p:sldId id="351" r:id="rId102"/>
    <p:sldId id="372" r:id="rId123"/>
    <p:sldId id="371" r:id="rId122"/>
    <p:sldId id="370" r:id="rId121"/>
    <p:sldId id="369" r:id="rId120"/>
    <p:sldId id="368" r:id="rId119"/>
    <p:sldId id="367" r:id="rId118"/>
    <p:sldId id="366" r:id="rId117"/>
    <p:sldId id="365" r:id="rId116"/>
    <p:sldId id="364" r:id="rId115"/>
    <p:sldId id="363" r:id="rId114"/>
    <p:sldId id="333" r:id="rId84"/>
    <p:sldId id="334" r:id="rId85"/>
    <p:sldId id="335" r:id="rId86"/>
    <p:sldId id="336" r:id="rId87"/>
    <p:sldId id="337" r:id="rId88"/>
    <p:sldId id="373" r:id="rId124"/>
    <p:sldId id="354" r:id="rId105"/>
    <p:sldId id="338" r:id="rId89"/>
    <p:sldId id="362" r:id="rId113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Relationship Id="rId17" Type="http://schemas.openxmlformats.org/officeDocument/2006/relationships/slide" Target="slides/slide11.xml"/><Relationship Id="rId18" Type="http://schemas.openxmlformats.org/officeDocument/2006/relationships/slide" Target="slides/slide12.xml"/><Relationship Id="rId19" Type="http://schemas.openxmlformats.org/officeDocument/2006/relationships/slide" Target="slides/slide13.xml"/><Relationship Id="rId20" Type="http://schemas.openxmlformats.org/officeDocument/2006/relationships/slide" Target="slides/slide14.xml"/><Relationship Id="rId21" Type="http://schemas.openxmlformats.org/officeDocument/2006/relationships/slide" Target="slides/slide15.xml"/><Relationship Id="rId22" Type="http://schemas.openxmlformats.org/officeDocument/2006/relationships/slide" Target="slides/slide16.xml"/><Relationship Id="rId23" Type="http://schemas.openxmlformats.org/officeDocument/2006/relationships/slide" Target="slides/slide17.xml"/><Relationship Id="rId24" Type="http://schemas.openxmlformats.org/officeDocument/2006/relationships/slide" Target="slides/slide18.xml"/><Relationship Id="rId25" Type="http://schemas.openxmlformats.org/officeDocument/2006/relationships/slide" Target="slides/slide19.xml"/><Relationship Id="rId26" Type="http://schemas.openxmlformats.org/officeDocument/2006/relationships/slide" Target="slides/slide20.xml"/><Relationship Id="rId27" Type="http://schemas.openxmlformats.org/officeDocument/2006/relationships/slide" Target="slides/slide21.xml"/><Relationship Id="rId28" Type="http://schemas.openxmlformats.org/officeDocument/2006/relationships/slide" Target="slides/slide22.xml"/><Relationship Id="rId29" Type="http://schemas.openxmlformats.org/officeDocument/2006/relationships/slide" Target="slides/slide23.xml"/><Relationship Id="rId30" Type="http://schemas.openxmlformats.org/officeDocument/2006/relationships/slide" Target="slides/slide24.xml"/><Relationship Id="rId31" Type="http://schemas.openxmlformats.org/officeDocument/2006/relationships/slide" Target="slides/slide25.xml"/><Relationship Id="rId32" Type="http://schemas.openxmlformats.org/officeDocument/2006/relationships/slide" Target="slides/slide26.xml"/><Relationship Id="rId33" Type="http://schemas.openxmlformats.org/officeDocument/2006/relationships/slide" Target="slides/slide27.xml"/><Relationship Id="rId34" Type="http://schemas.openxmlformats.org/officeDocument/2006/relationships/slide" Target="slides/slide28.xml"/><Relationship Id="rId35" Type="http://schemas.openxmlformats.org/officeDocument/2006/relationships/slide" Target="slides/slide29.xml"/><Relationship Id="rId36" Type="http://schemas.openxmlformats.org/officeDocument/2006/relationships/slide" Target="slides/slide30.xml"/><Relationship Id="rId37" Type="http://schemas.openxmlformats.org/officeDocument/2006/relationships/slide" Target="slides/slide31.xml"/><Relationship Id="rId38" Type="http://schemas.openxmlformats.org/officeDocument/2006/relationships/slide" Target="slides/slide32.xml"/><Relationship Id="rId39" Type="http://schemas.openxmlformats.org/officeDocument/2006/relationships/slide" Target="slides/slide33.xml"/><Relationship Id="rId40" Type="http://schemas.openxmlformats.org/officeDocument/2006/relationships/slide" Target="slides/slide34.xml"/><Relationship Id="rId41" Type="http://schemas.openxmlformats.org/officeDocument/2006/relationships/slide" Target="slides/slide35.xml"/><Relationship Id="rId42" Type="http://schemas.openxmlformats.org/officeDocument/2006/relationships/slide" Target="slides/slide36.xml"/><Relationship Id="rId43" Type="http://schemas.openxmlformats.org/officeDocument/2006/relationships/slide" Target="slides/slide37.xml"/><Relationship Id="rId44" Type="http://schemas.openxmlformats.org/officeDocument/2006/relationships/slide" Target="slides/slide38.xml"/><Relationship Id="rId45" Type="http://schemas.openxmlformats.org/officeDocument/2006/relationships/slide" Target="slides/slide39.xml"/><Relationship Id="rId46" Type="http://schemas.openxmlformats.org/officeDocument/2006/relationships/slide" Target="slides/slide40.xml"/><Relationship Id="rId47" Type="http://schemas.openxmlformats.org/officeDocument/2006/relationships/slide" Target="slides/slide41.xml"/><Relationship Id="rId48" Type="http://schemas.openxmlformats.org/officeDocument/2006/relationships/slide" Target="slides/slide42.xml"/><Relationship Id="rId49" Type="http://schemas.openxmlformats.org/officeDocument/2006/relationships/slide" Target="slides/slide43.xml"/><Relationship Id="rId50" Type="http://schemas.openxmlformats.org/officeDocument/2006/relationships/slide" Target="slides/slide44.xml"/><Relationship Id="rId51" Type="http://schemas.openxmlformats.org/officeDocument/2006/relationships/slide" Target="slides/slide45.xml"/><Relationship Id="rId52" Type="http://schemas.openxmlformats.org/officeDocument/2006/relationships/slide" Target="slides/slide46.xml"/><Relationship Id="rId53" Type="http://schemas.openxmlformats.org/officeDocument/2006/relationships/slide" Target="slides/slide47.xml"/><Relationship Id="rId54" Type="http://schemas.openxmlformats.org/officeDocument/2006/relationships/slide" Target="slides/slide48.xml"/><Relationship Id="rId56" Type="http://schemas.openxmlformats.org/officeDocument/2006/relationships/slide" Target="slides/slide50.xml"/><Relationship Id="rId57" Type="http://schemas.openxmlformats.org/officeDocument/2006/relationships/slide" Target="slides/slide51.xml"/><Relationship Id="rId58" Type="http://schemas.openxmlformats.org/officeDocument/2006/relationships/slide" Target="slides/slide52.xml"/><Relationship Id="rId59" Type="http://schemas.openxmlformats.org/officeDocument/2006/relationships/slide" Target="slides/slide53.xml"/><Relationship Id="rId60" Type="http://schemas.openxmlformats.org/officeDocument/2006/relationships/slide" Target="slides/slide54.xml"/><Relationship Id="rId61" Type="http://schemas.openxmlformats.org/officeDocument/2006/relationships/slide" Target="slides/slide56.xml"/><Relationship Id="rId62" Type="http://schemas.openxmlformats.org/officeDocument/2006/relationships/slide" Target="slides/slide57.xml"/><Relationship Id="rId63" Type="http://schemas.openxmlformats.org/officeDocument/2006/relationships/slide" Target="slides/slide58.xml"/><Relationship Id="rId64" Type="http://schemas.openxmlformats.org/officeDocument/2006/relationships/slide" Target="slides/slide59.xml"/><Relationship Id="rId65" Type="http://schemas.openxmlformats.org/officeDocument/2006/relationships/slide" Target="slides/slide60.xml"/><Relationship Id="rId66" Type="http://schemas.openxmlformats.org/officeDocument/2006/relationships/slide" Target="slides/slide61.xml"/><Relationship Id="rId67" Type="http://schemas.openxmlformats.org/officeDocument/2006/relationships/slide" Target="slides/slide62.xml"/><Relationship Id="rId68" Type="http://schemas.openxmlformats.org/officeDocument/2006/relationships/slide" Target="slides/slide63.xml"/><Relationship Id="rId69" Type="http://schemas.openxmlformats.org/officeDocument/2006/relationships/slide" Target="slides/slide64.xml"/><Relationship Id="rId70" Type="http://schemas.openxmlformats.org/officeDocument/2006/relationships/slide" Target="slides/slide65.xml"/><Relationship Id="rId71" Type="http://schemas.openxmlformats.org/officeDocument/2006/relationships/slide" Target="slides/slide66.xml"/><Relationship Id="rId72" Type="http://schemas.openxmlformats.org/officeDocument/2006/relationships/slide" Target="slides/slide68.xml"/><Relationship Id="rId73" Type="http://schemas.openxmlformats.org/officeDocument/2006/relationships/slide" Target="slides/slide69.xml"/><Relationship Id="rId74" Type="http://schemas.openxmlformats.org/officeDocument/2006/relationships/slide" Target="slides/slide70.xml"/><Relationship Id="rId75" Type="http://schemas.openxmlformats.org/officeDocument/2006/relationships/slide" Target="slides/slide71.xml"/><Relationship Id="rId76" Type="http://schemas.openxmlformats.org/officeDocument/2006/relationships/slide" Target="slides/slide72.xml"/><Relationship Id="rId77" Type="http://schemas.openxmlformats.org/officeDocument/2006/relationships/slide" Target="slides/slide73.xml"/><Relationship Id="rId78" Type="http://schemas.openxmlformats.org/officeDocument/2006/relationships/slide" Target="slides/slide74.xml"/><Relationship Id="rId79" Type="http://schemas.openxmlformats.org/officeDocument/2006/relationships/slide" Target="slides/slide75.xml"/><Relationship Id="rId80" Type="http://schemas.openxmlformats.org/officeDocument/2006/relationships/slide" Target="slides/slide76.xml"/><Relationship Id="rId81" Type="http://schemas.openxmlformats.org/officeDocument/2006/relationships/slide" Target="slides/slide77.xml"/><Relationship Id="rId82" Type="http://schemas.openxmlformats.org/officeDocument/2006/relationships/slide" Target="slides/slide78.xml"/><Relationship Id="rId83" Type="http://schemas.openxmlformats.org/officeDocument/2006/relationships/slide" Target="slides/slide79.xml"/><Relationship Id="rId84" Type="http://schemas.openxmlformats.org/officeDocument/2006/relationships/slide" Target="slides/slide93.xml"/><Relationship Id="rId85" Type="http://schemas.openxmlformats.org/officeDocument/2006/relationships/slide" Target="slides/slide94.xml"/><Relationship Id="rId86" Type="http://schemas.openxmlformats.org/officeDocument/2006/relationships/slide" Target="slides/slide95.xml"/><Relationship Id="rId87" Type="http://schemas.openxmlformats.org/officeDocument/2006/relationships/slide" Target="slides/slide96.xml"/><Relationship Id="rId88" Type="http://schemas.openxmlformats.org/officeDocument/2006/relationships/slide" Target="slides/slide97.xml"/><Relationship Id="rId89" Type="http://schemas.openxmlformats.org/officeDocument/2006/relationships/slide" Target="slides/slide99.xml"/><Relationship Id="rId90" Type="http://schemas.openxmlformats.org/officeDocument/2006/relationships/slide" Target="slides/slide80.xml"/><Relationship Id="rId91" Type="http://schemas.openxmlformats.org/officeDocument/2006/relationships/slide" Target="slides/slide81.xml"/><Relationship Id="rId92" Type="http://schemas.openxmlformats.org/officeDocument/2006/relationships/slide" Target="slides/slide82.xml"/><Relationship Id="rId93" Type="http://schemas.openxmlformats.org/officeDocument/2006/relationships/slide" Target="slides/slide83.xml"/><Relationship Id="rId94" Type="http://schemas.openxmlformats.org/officeDocument/2006/relationships/slide" Target="slides/slide84.xml"/><Relationship Id="rId96" Type="http://schemas.openxmlformats.org/officeDocument/2006/relationships/slide" Target="slides/slide86.xml"/><Relationship Id="rId97" Type="http://schemas.openxmlformats.org/officeDocument/2006/relationships/slide" Target="slides/slide87.xml"/><Relationship Id="rId98" Type="http://schemas.openxmlformats.org/officeDocument/2006/relationships/slide" Target="slides/slide88.xml"/><Relationship Id="rId99" Type="http://schemas.openxmlformats.org/officeDocument/2006/relationships/slide" Target="slides/slide89.xml"/><Relationship Id="rId100" Type="http://schemas.openxmlformats.org/officeDocument/2006/relationships/slide" Target="slides/slide90.xml"/><Relationship Id="rId101" Type="http://schemas.openxmlformats.org/officeDocument/2006/relationships/slide" Target="slides/slide91.xml"/><Relationship Id="rId102" Type="http://schemas.openxmlformats.org/officeDocument/2006/relationships/slide" Target="slides/slide92.xml"/><Relationship Id="rId103" Type="http://schemas.openxmlformats.org/officeDocument/2006/relationships/slide" Target="slides/slide55.xml"/><Relationship Id="rId104" Type="http://schemas.openxmlformats.org/officeDocument/2006/relationships/slide" Target="slides/slide67.xml"/><Relationship Id="rId105" Type="http://schemas.openxmlformats.org/officeDocument/2006/relationships/slide" Target="slides/slide98.xml"/><Relationship Id="rId106" Type="http://schemas.openxmlformats.org/officeDocument/2006/relationships/slide" Target="slides/slide100.xml"/><Relationship Id="rId107" Type="http://schemas.openxmlformats.org/officeDocument/2006/relationships/slide" Target="slides/slide101.xml"/><Relationship Id="rId108" Type="http://schemas.openxmlformats.org/officeDocument/2006/relationships/slide" Target="slides/slide102.xml"/><Relationship Id="rId109" Type="http://schemas.openxmlformats.org/officeDocument/2006/relationships/slide" Target="slides/slide103.xml"/><Relationship Id="rId110" Type="http://schemas.openxmlformats.org/officeDocument/2006/relationships/slide" Target="slides/slide104.xml"/><Relationship Id="rId111" Type="http://schemas.openxmlformats.org/officeDocument/2006/relationships/slide" Target="slides/slide105.xml"/><Relationship Id="rId112" Type="http://schemas.openxmlformats.org/officeDocument/2006/relationships/slide" Target="slides/slide106.xml"/><Relationship Id="rId113" Type="http://schemas.openxmlformats.org/officeDocument/2006/relationships/slide" Target="slides/slide107.xml"/><Relationship Id="rId114" Type="http://schemas.openxmlformats.org/officeDocument/2006/relationships/slide" Target="slides/slide108.xml"/><Relationship Id="rId115" Type="http://schemas.openxmlformats.org/officeDocument/2006/relationships/slide" Target="slides/slide109.xml"/><Relationship Id="rId116" Type="http://schemas.openxmlformats.org/officeDocument/2006/relationships/slide" Target="slides/slide110.xml"/><Relationship Id="rId117" Type="http://schemas.openxmlformats.org/officeDocument/2006/relationships/slide" Target="slides/slide111.xml"/><Relationship Id="rId118" Type="http://schemas.openxmlformats.org/officeDocument/2006/relationships/slide" Target="slides/slide112.xml"/><Relationship Id="rId119" Type="http://schemas.openxmlformats.org/officeDocument/2006/relationships/slide" Target="slides/slide113.xml"/><Relationship Id="rId120" Type="http://schemas.openxmlformats.org/officeDocument/2006/relationships/slide" Target="slides/slide114.xml"/><Relationship Id="rId121" Type="http://schemas.openxmlformats.org/officeDocument/2006/relationships/slide" Target="slides/slide115.xml"/><Relationship Id="rId122" Type="http://schemas.openxmlformats.org/officeDocument/2006/relationships/slide" Target="slides/slide116.xml"/><Relationship Id="rId123" Type="http://schemas.openxmlformats.org/officeDocument/2006/relationships/slide" Target="slides/slide117.xml"/><Relationship Id="rId124" Type="http://schemas.openxmlformats.org/officeDocument/2006/relationships/slide" Target="slides/slide118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0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_rels/slide1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960120"/>
            <a:ext cx="100584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F2A65A"/>
                </a:solidFill>
                <a:latin typeface="Calibri"/>
              </a:rPr>
              <a:t>AI 知识库 · 讲义式 PPT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1417320"/>
            <a:ext cx="10515600" cy="12801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800" b="1" i="0">
                <a:solidFill>
                  <a:srgbClr val="FFFFFF"/>
                </a:solidFill>
                <a:latin typeface="Cambria"/>
              </a:rPr>
              <a:t>多模态 · 让模型长出眼睛和耳朵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269748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0" i="0">
                <a:solidFill>
                  <a:srgbClr val="D6E1E8"/>
                </a:solidFill>
                <a:latin typeface="Cambria"/>
              </a:rPr>
              <a:t>Multimodal AI · Perception &amp; Generation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3383280"/>
            <a:ext cx="96926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600" b="0" i="0">
                <a:solidFill>
                  <a:srgbClr val="EAF3F5"/>
                </a:solidFill>
                <a:latin typeface="Calibri"/>
              </a:rPr>
              <a:t>从「只会读写文字的天才」到「能看图、听声、读文档、还能画出来」的助手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2296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1·是什么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1907525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2·怎么看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992090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3·怎么拼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076656" y="416052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4·理解侧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822960" y="4572000"/>
            <a:ext cx="91997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5·生成侧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1907525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6·选型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829240" y="4572000"/>
            <a:ext cx="757123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7·生产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749039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8·语音实时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2960" y="5989320"/>
            <a:ext cx="82296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读者定位：AI 平台「售前技术」角色（有 Python/API 基础，重概念与取舍）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0241280" y="5989320"/>
            <a:ext cx="14630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9FB3C0"/>
                </a:solidFill>
                <a:latin typeface="Calibri"/>
              </a:rPr>
              <a:t>2026-08-01</a:t>
            </a:r>
          </a:p>
        </p:txBody>
      </p:sp>
      <p:sp>
        <p:nvSpPr>
          <p:cNvPr id="17" name="Rounded Rectangle 12"/>
          <p:cNvSpPr/>
          <p:nvPr/>
        </p:nvSpPr>
        <p:spPr>
          <a:xfrm>
            <a:off x="6245352" y="4572000"/>
            <a:ext cx="923544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10·速查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4992624" y="4572000"/>
            <a:ext cx="1088136" cy="310896"/>
          </a:xfrm>
          <a:prstGeom prst="roundRect">
            <a:avLst>
              <a:gd name="adj" fmla="val 5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100" b="1">
                <a:solidFill>
                  <a:srgbClr val="EAF3F5"/>
                </a:solidFill>
                <a:latin typeface="Calibri"/>
              </a:rPr>
              <a:t>9·视频生成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0">
                <a:solidFill>
                  <a:srgbClr val="51606E"/>
                </a:solidFill>
                <a:latin typeface="Calibri"/>
              </a:rPr>
              <a:t>本讲义 · 十章一条线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22960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导览</a:t>
            </a:r>
          </a:p>
        </p:txBody>
      </p:sp>
      <p:sp>
        <p:nvSpPr>
          <p:cNvPr id="4" name="Oval 3"/>
          <p:cNvSpPr/>
          <p:nvPr/>
        </p:nvSpPr>
        <p:spPr>
          <a:xfrm>
            <a:off x="566928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133856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是什么 / 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33856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定义、为何爆发、感知面全景（理解 vs 生成）</a:t>
            </a:r>
          </a:p>
        </p:txBody>
      </p:sp>
      <p:sp>
        <p:nvSpPr>
          <p:cNvPr id="7" name="Oval 6"/>
          <p:cNvSpPr/>
          <p:nvPr/>
        </p:nvSpPr>
        <p:spPr>
          <a:xfrm>
            <a:off x="566928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33856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机器怎么「看」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133856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ViT patch 化、CLIP 图文对齐</a:t>
            </a:r>
          </a:p>
        </p:txBody>
      </p:sp>
      <p:sp>
        <p:nvSpPr>
          <p:cNvPr id="10" name="Oval 9"/>
          <p:cNvSpPr/>
          <p:nvPr/>
        </p:nvSpPr>
        <p:spPr>
          <a:xfrm>
            <a:off x="566928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133856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模态怎么「拼」（灵魂章）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33856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投影 / 交叉注意力 / Q-Former、原生 vs 拼管线</a:t>
            </a:r>
          </a:p>
        </p:txBody>
      </p:sp>
      <p:sp>
        <p:nvSpPr>
          <p:cNvPr id="13" name="Oval 12"/>
          <p:cNvSpPr/>
          <p:nvPr/>
        </p:nvSpPr>
        <p:spPr>
          <a:xfrm>
            <a:off x="566928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1133856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理解侧能力盘点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1133856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图 / 文档 / 视频 / 语音；SOTA 模型格局</a:t>
            </a:r>
          </a:p>
        </p:txBody>
      </p:sp>
      <p:sp>
        <p:nvSpPr>
          <p:cNvPr id="16" name="Oval 15"/>
          <p:cNvSpPr/>
          <p:nvPr/>
        </p:nvSpPr>
        <p:spPr>
          <a:xfrm>
            <a:off x="566928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133856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生成侧能力盘点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1133856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扩散 vs 自回归、原生图像、文生视频、语音</a:t>
            </a:r>
          </a:p>
        </p:txBody>
      </p:sp>
      <p:sp>
        <p:nvSpPr>
          <p:cNvPr id="19" name="Oval 18"/>
          <p:cNvSpPr/>
          <p:nvPr/>
        </p:nvSpPr>
        <p:spPr>
          <a:xfrm>
            <a:off x="6355080" y="1783080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6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922008" y="1728216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选型与动手做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922008" y="2057400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原生 vs 拼管线怎么选、成本 / 延迟 / 精度</a:t>
            </a:r>
          </a:p>
        </p:txBody>
      </p:sp>
      <p:sp>
        <p:nvSpPr>
          <p:cNvPr id="22" name="Oval 21"/>
          <p:cNvSpPr/>
          <p:nvPr/>
        </p:nvSpPr>
        <p:spPr>
          <a:xfrm>
            <a:off x="6355080" y="2578608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7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922008" y="2523744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生产落地与坑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922008" y="2852927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token 成本、幻觉、评估、跨模态注入</a:t>
            </a:r>
          </a:p>
        </p:txBody>
      </p:sp>
      <p:sp>
        <p:nvSpPr>
          <p:cNvPr id="25" name="Oval 24"/>
          <p:cNvSpPr/>
          <p:nvPr/>
        </p:nvSpPr>
        <p:spPr>
          <a:xfrm>
            <a:off x="6355080" y="3374136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8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922008" y="3319272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语音与实时交互（新）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922008" y="3648456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延迟预算、级联 vs 端到端、打断、RTC 框架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169663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9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114800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视频生成（新）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4443983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Seedance/可灵/Veo 格局、按秒计价成本账、工作流与标识合规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566928" y="5806440"/>
            <a:ext cx="11064240" cy="566928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777240" y="5888736"/>
            <a:ext cx="10972800" cy="402336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怎么读：第 1–2 章建直觉，第 3 章是灵魂（原生 vs 拼管线），第 4–5 章盘能力，第 6–7 章讲选型与生产，第 8 章把语音做成实时链路，第 9 章盘视频生成，第 10 章速查收口。</a:t>
            </a:r>
          </a:p>
        </p:txBody>
      </p:sp>
      <p:sp>
        <p:nvSpPr>
          <p:cNvPr id="28" name="Oval 27"/>
          <p:cNvSpPr/>
          <p:nvPr/>
        </p:nvSpPr>
        <p:spPr>
          <a:xfrm>
            <a:off x="6355080" y="4965192"/>
            <a:ext cx="402336" cy="402336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10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6922008" y="4910328"/>
            <a:ext cx="507492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400" b="1">
                <a:solidFill>
                  <a:srgbClr val="0B2540"/>
                </a:solidFill>
                <a:latin typeface="Calibri"/>
              </a:rPr>
              <a:t>售前速查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6922008" y="5239512"/>
            <a:ext cx="516636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050" b="0">
                <a:solidFill>
                  <a:srgbClr val="51606E"/>
                </a:solidFill>
                <a:latin typeface="Calibri"/>
              </a:rPr>
              <a:t>术语表、决策树、跨模块串联地图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是什么 / 为什么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What &amp; Why · 感知面全景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是什么/为什么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用一句话向客户解释多模态（Multimodal）：让模型能理解 / 生成文本之外的图像、音频、视频、文档等多种模态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分清「理解侧」与「生成侧」两条线——它们的选型、报价、落地方式完全不同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判断一个真实需求到底需不需要多模态，避免为「炫」而上、白白多花钱多花时间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说清多模态和传统 OCR（Optical Character Recognition） / ASR 的区别：从「把图变字」到「连看带理解」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感知面全景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多模态：把「一种感官」变成「多种感官」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大模型本质是个「文字天才」，但真实世界的信息是图、声、视频、表格混在一起的。多模态就是给它加装感官：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读写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看+听+时序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版式+图表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理解侧（Understanding）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输入多模态 → 输出文字：看懂图 / 文档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例：发票识别、图表问答、监控视频摘要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代表：GPT-5.5、Gemini 3.1 Pro、Qwen3-VL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2011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生成侧（Generation）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2344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输入文字 / 图 → 输出图 / 音 / 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例：文生图、语音配音、文生视频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代表：GPT Image 2、Nano Banana 2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57784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68756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「多模态」不是某一个模型，而是一类能力——先分清你要的是「看懂」还是「生成」，再谈选型。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为什么现在爆发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三个拐点，让多模态从「实验室」走进「生产」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原生旗舰落地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Gemini 3.1 Pro / GPT-5.5 把「看、听」直接做进同一个模型，不再是外挂——能力和稳定性过了生产线。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325112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统一架构成熟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26280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视觉编码器 + LLM（Large Language Model） 的「投影层」范式（LLaVA 式）跑通，开源社区能低成本复刻出好用的 VLM。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83296" y="1554480"/>
            <a:ext cx="3538728" cy="27432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155448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成本大幅下降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4" y="2157984"/>
            <a:ext cx="3136392" cy="20116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托管 API 按 token 计费、开源 VLM（Vision-Language Model） 可自部署，传一张图的边际成本降到「用得起」的区间。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617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472744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对客话术：不是「新技术尝鲜」，而是「原来要拼三四个工具的活，现在一个模型端到端做完」——这才是客户买单的点。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能力谱系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把「多模态」拆开：每种模态都有理解和生成两面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模态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理解侧（看懂 / 听懂）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7196327" y="1508760"/>
            <a:ext cx="4434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生成侧（画出 / 说出）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图像 Image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图像问答、OCR、图表理解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96327" y="1965960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文生图、图生图、局部重绘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音频 Audio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语音转写 ASR、声音事件识别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96327" y="2532888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语音合成 TTS（Text-to-Speech）、音乐 / 音效生成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视频 Video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视频摘要、动作识别、时序定位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96327" y="3099816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文生视频、图生视频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文档 Document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版式解析、表格 / 图表抽取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96327" y="3666744"/>
            <a:ext cx="44348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版式化文档生成（较少见）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1">
                <a:solidFill>
                  <a:srgbClr val="1A2733"/>
                </a:solidFill>
                <a:latin typeface="Calibri"/>
              </a:rPr>
              <a:t>3D / 其它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点云 / 空间理解（新兴）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196327" y="4233672"/>
            <a:ext cx="44348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50" b="0">
                <a:solidFill>
                  <a:srgbClr val="1A2733"/>
                </a:solidFill>
                <a:latin typeface="Calibri"/>
              </a:rPr>
              <a:t>3D 资产生成（新兴）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售前常见误区：客户说「要个多模态」，其实往往只需要其中一格（如「图像→OCR」）。先定位到具体那一格，方案立刻清晰。</a:t>
            </a:r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判断标准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什么时候该上多模态，什么时候别硬上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✓ 该上多模态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输入里有关键的非文字信息：图纸、发票、X 光片、监控视频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任务要「连看带推理」：这张图表能说明利润下滑吗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跨模态：给图配文案、给视频生成字幕摘要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传统 OCR/规则抽取做不动的复杂版式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108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✗ 别硬上多模态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331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输入本来就是纯文本（客服问答、合同文本）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只需固定字段的规则化识别，传统 OCR 更快更便宜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对延迟 / 成本极敏感，图像 token 开销扛不住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没有评估手段，纯靠「看着还行」上线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一句话判据：非文字信息是不是「关键输入」+ 任务是不是需要「理解」而非「转录」。两个都 yes 才上。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与传统方案的区别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多模态大模型 ≠ OCR + LLM 的简单拼接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传统链路（OCR / ASR + 规则）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先把图 / 声「转成字」，再交给下游处理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擅长：印刷体、固定版式、字段稳定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短板：图表语义、手写、跨区域关联答不了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多模态大模型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「看着图直接理解并回答」，不必先转字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擅长：图表推理、复杂版式、开放问答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短板：贵、慢、可能幻觉，需评估兜底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114800"/>
            <a:ext cx="109728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案例：一张财报截图。OCR 只能吐出数字；多模态模型能回答「同比增长最快的是哪个业务线，为什么」——差别就在「理解」。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89204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00176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两者不是替代而是分工：稳定字段用 OCR 省钱，复杂理解用多模态兜底——第 6 章「拼管线 vs 原生」会细讲。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多模态各能力 → 主流云服务对照（给选项，不绑一家）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32004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能力环节</a:t>
            </a:r>
          </a:p>
        </p:txBody>
      </p:sp>
      <p:sp>
        <p:nvSpPr>
          <p:cNvPr id="7" name="Rectangle 6"/>
          <p:cNvSpPr/>
          <p:nvPr/>
        </p:nvSpPr>
        <p:spPr>
          <a:xfrm>
            <a:off x="376732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云上通常怎么扛</a:t>
            </a:r>
          </a:p>
        </p:txBody>
      </p:sp>
      <p:sp>
        <p:nvSpPr>
          <p:cNvPr id="8" name="Rectangle 7"/>
          <p:cNvSpPr/>
          <p:nvPr/>
        </p:nvSpPr>
        <p:spPr>
          <a:xfrm>
            <a:off x="7973567" y="1508760"/>
            <a:ext cx="36576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代表服务形态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多模态理解（图/文档/视频）</a:t>
            </a:r>
          </a:p>
        </p:txBody>
      </p:sp>
      <p:sp>
        <p:nvSpPr>
          <p:cNvPr id="10" name="Rectangle 9"/>
          <p:cNvSpPr/>
          <p:nvPr/>
        </p:nvSpPr>
        <p:spPr>
          <a:xfrm>
            <a:off x="3767328" y="196596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调托管多模态大模型 API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973567" y="196596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Bedrock / Vertex AI / 通义千问 API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1460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文档 OCR / 版式解析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767328" y="251460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专用文档智能服务，或多模态模型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973567" y="251460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Document AI / 文字识别 OCR / Textract 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6324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语音理解 ASR / 合成 TTS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767328" y="306324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托管语音服务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973567" y="306324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Speech-to-Text / TTS 类语音服务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11880"/>
            <a:ext cx="32004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 / 视频生成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767328" y="3611880"/>
            <a:ext cx="420624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托管生成模型服务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973567" y="3611880"/>
            <a:ext cx="3657600" cy="548640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各云图像 / 视频生成 API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160520"/>
            <a:ext cx="32004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自部署开源 VLM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767328" y="4160520"/>
            <a:ext cx="420624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GPU 实例 + 推理框架</a:t>
            </a:r>
          </a:p>
        </p:txBody>
      </p:sp>
      <p:sp>
        <p:nvSpPr>
          <p:cNvPr id="23" name="Rectangle 22"/>
          <p:cNvSpPr/>
          <p:nvPr/>
        </p:nvSpPr>
        <p:spPr>
          <a:xfrm>
            <a:off x="7973567" y="4160520"/>
            <a:ext cx="3657600" cy="548640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vLLM / SGLang on GPU 云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给客户报方案的口径：先按「理解 / 生成 / 文档 / 语音」拆环节，每个环节给「托管 API」和「自建」两条路，再谈成本。</a:t>
            </a:r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1 章 · 是什么 / 为什么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拿任一多模态 API（GPT-5.5 / Gemini / Claude），传一张发票截图，让它抽出金额、日期、抬头，看它抽得准不准。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换一张手写便签、再换一张财报图表，分别问「转录」和「理解」两类问题，体会 OCR 与多模态的边界。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把同一张图分别走「云上 OCR 服务」和「多模态大模型」，记下各自的准确率、延迟、花费——这就是你对客的第一份对比数据。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关键观察点：印刷体两者都行；一旦涉及手写、图表推理、开放问答，多模态的价值才显出来。</a:t>
            </a:r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多模态是不是就是能看图？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不止。它是「文本之外多种模态的理解与生成」——图、音、视频、文档都算，且分「看懂」和「生成」两条线，选型报价都不同。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我的场景到底要不要上多模态？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看输入里有没有关键的非文字信息，且任务是否需要「理解」。发票理解、图纸问答要；纯文本客服不用硬上，反而更贵更慢。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多模态和 OCR 有什么区别？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只把图变字；多模态能「连看带理解」，直接回答「这张图表说明利润在下降吗」这类 OCR 答不了的问题，两者常配合用。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为什么现在多模态突然火了？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原生多模态旗舰（Gemini 3.1 Pro、GPT-5.5）把看 / 听做进同一个模型，能力和易用性都过了线，端到端落地成本大降。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多模态 = 给文字天才装上眼睛耳朵，能理解和生成图 / 音 / 视频 / 文档。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理解侧（看懂→出字）vs 生成侧（出图 / 音 / 视频），选型报价完全不同。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判断标准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输入有关键非文字信息 + 需要「理解」而非「转录」，才上多模态。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与 OCR 关系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不是替代是分工：稳定字段 OCR 省钱，复杂理解多模态兜底。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是什么/为什么</a:t>
            </a:r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2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机器怎么「看」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How Machines See · ViT 与 CLIP</a:t>
            </a:r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机器怎么看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解释模型只吃 token，那一张图是怎么变成一串「视觉 token」的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ViT（Vision Transformer）的核心动作：把图切成 16×16 的 patch 当单词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 CLIP 用「图文对比学习」把图和文字拉到同一个向量空间，以及它为什么关键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知道视觉编码器（Vision Encoder）的选型与分辨率如何影响 token 数和成本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核心难题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模型只认 token：一张图怎么「说」给它听？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文字天然是离散 token（一个词一个号）。但一张图是几百万个连续像素，没法直接喂给 Transformer。核心问题就一句：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246888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700" b="1" i="0">
                <a:solidFill>
                  <a:srgbClr val="0E4D64"/>
                </a:solidFill>
                <a:latin typeface="Calibri"/>
              </a:rPr>
              <a:t>怎么把「连续的像素」变成「离散的、Transformer 能吃的一串 token」？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52044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0" i="0">
                <a:solidFill>
                  <a:srgbClr val="1A2733"/>
                </a:solidFill>
                <a:latin typeface="Calibri"/>
              </a:rPr>
              <a:t>类比：你没法把一整幅油画塞进邮筒，但可以把它剪成一版小邮票，一张张贴上、按顺序念给对方听——ViT 干的就是这件事。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整幅图像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连续像素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081528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3410712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切成 patch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16×16 小块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925312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254496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每块 → 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769096" y="45994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9098280" y="43434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排成序列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喂给模型</a:t>
            </a:r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ViT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Vision Transformer：把图片切成「视觉单词」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ViT 把「图像分类」变成了「读一句由图块组成的话」。五步走：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847088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77240" y="1947672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① 切块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2834640" y="1929384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把图切成 16×16 像素的 patch，如 224×224 的图 → 196 块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69464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77240" y="2670048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② 展平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2834640" y="2651760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每个 patch 拉直成一个向量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3291840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77240" y="3392424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③ 线性投影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2834640" y="3374136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过一层线性变换，得到定长的 patch embedding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014216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77240" y="4114800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④ 加位置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2834640" y="4096512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补上位置编码，告诉模型「这块在左上还是右下」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36592"/>
            <a:ext cx="11064240" cy="6217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4837176"/>
            <a:ext cx="2011680" cy="4572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⑤ 进 Transformer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2834640" y="4818888"/>
            <a:ext cx="8595360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当成 token 序列，走标准自注意力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806440"/>
            <a:ext cx="11064240" cy="47548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916168"/>
            <a:ext cx="10661904" cy="29260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记住这个数：patch 越小 / 分辨率越高 → token 越多 → 看得越细，但也越贵越慢。这是第 7 章成本账的根。</a:t>
            </a: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CLIP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CLIP：让图片和文字「在同一个空间里牵手」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光把图变成 token 还不够——模型怎么知道「一张金毛照片」对应「golden retriever」这句话？CLIP（Contrastive Language-Image Pre-training，对比式图文预训练）用海量「图 + 配文」对训练：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训练目标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4 亿对「图 + 配文」（网络上现成的）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匹配的图文 → 向量拉近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不匹配的 → 向量推远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51460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51460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得到的能力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15468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图和文字进入同一个语义空间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零样本分类：给类别名就能认新类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成为多模态大模型的「眼睛」底座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5720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类比：把所有图片和所有句子扔进同一个大操场，让「意思相同的」自动站到一起。之后给一句话，就能找到最像它的图。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39496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0468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CLIP / SigLIP 这类编码器是绝大多数 VLM 的视觉前端——理解它，才懂后面「模态怎么拼」为什么能拼。</a:t>
            </a:r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编码器选型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视觉编码器：选哪款、给多少分辨率，直接影响成本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维度</a:t>
            </a:r>
          </a:p>
        </p:txBody>
      </p:sp>
      <p:sp>
        <p:nvSpPr>
          <p:cNvPr id="7" name="Rectangle 6"/>
          <p:cNvSpPr/>
          <p:nvPr/>
        </p:nvSpPr>
        <p:spPr>
          <a:xfrm>
            <a:off x="294436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7150608" y="1508760"/>
            <a:ext cx="4480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对售前的意义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主流编码器</a:t>
            </a:r>
          </a:p>
        </p:txBody>
      </p:sp>
      <p:sp>
        <p:nvSpPr>
          <p:cNvPr id="10" name="Rectangle 9"/>
          <p:cNvSpPr/>
          <p:nvPr/>
        </p:nvSpPr>
        <p:spPr>
          <a:xfrm>
            <a:off x="294436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CLIP、SigLIP、自研 ViT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150608" y="1965960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开源 VLM 多用 SigLIP；能力/许可要看清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输入分辨率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94436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224 / 336 / 动态高分辨率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532888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分辨率↑ → 认得清小字，但 token 数↑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377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token 数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94436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一张图几十~上千 token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150608" y="3099816"/>
            <a:ext cx="4480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直接决定这张图的费用和延迟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377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动态切分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94436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大图切成多个子图分别编码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150608" y="3666744"/>
            <a:ext cx="4480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高清图常用，token 会成倍涨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客户问「传高清图会不会更准」：会更准，但 token 和费用也涨——给他「够用的最低分辨率」而不是「最高分辨率」。</a:t>
            </a:r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2 章 · 机器怎么看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transformers 加载一个 CLIP 模型，给它一张图 + 三个候选文字标签，看它怎么零样本地选出最匹配的（体会「图文对齐」）。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同一张图，分别用 224 和高分辨率两种设置调多模态 API，比较对「图里的小字」识别的差异，以及 token 数 / 花费的差异。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题让你亲眼看到 CLIP 的对齐能力；第 2 题让你对「分辨率↔token↔成本」这条链形成肌肉记忆。</a:t>
            </a:r>
          </a:p>
        </p:txBody>
      </p:sp>
    </p:spTree>
  </p:cSld>
  <p:clrMapOvr>
    <a:masterClrMapping/>
  </p:clrMapOvr>
</p:sld>
</file>

<file path=ppt/slides/slide2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模型是怎么「看懂」图片的？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先用视觉编码器（如 CLIP）把图切成小块、变成一串「视觉 token」，再和文字 token 一起交给大模型理解——本质是把图翻译成模型的语言。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为什么传高清大图更贵？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分辨率越高、切的 patch 越多，视觉 token 就越多，而计费和延迟都按 token 走，所以更清晰=更贵更慢。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CLIP 和多模态大模型是一回事吗？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不是。CLIP 是「眼睛」（视觉编码器），负责把图变成向量；多模态大模型是在它之上接了个会推理的「大脑」。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8280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图像识别用多模态大模型，比传统 CV 好在哪？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2806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传统 CV 要为每个任务单独训练；多模态大模型开箱即用、能开放问答、能结合上下文推理，省了大量定制工程。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2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核心动作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ViT 把图切成 16×16 的 patch，当「视觉单词」排成序列喂给模型。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对齐底座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CLIP 用图文对比学习，把图和文字拉进同一个向量空间。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分辨率 / patch 越多 → 视觉 token 越多 → 越准也越贵越慢。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承上启下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编码器是 VLM 的眼睛；下一章讲眼睛怎么接上大脑（融合）。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2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3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模态怎么「拼」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Fusion · 三条融合路线 &amp; 原生 vs 拼管线</a:t>
            </a:r>
          </a:p>
        </p:txBody>
      </p:sp>
    </p:spTree>
  </p:cSld>
  <p:clrMapOvr>
    <a:masterClrMapping/>
  </p:clrMapOvr>
</p:sld>
</file>

<file path=ppt/slides/slide2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模态怎么拼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讲清核心问题：视觉 token 怎么接进一个原本只懂文字的大模型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说清三条主流融合路线——投影层（LLaVA）、交叉注意力（Flamingo）、Q-Former（BLIP-2）的取舍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分清「早融合 / 晚融合」和「原生多模态 / 拼管线」，这是本讲义最值钱的一页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面对一个客户需求，能判断该走「原生多模态模型」还是「拼 OCR/ASR + LLM」的管线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核心问题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眼睛有了，怎么接到大脑上？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第 2 章我们有了「视觉 token」，第 1 章有了会推理的 LLM。现在的问题是：怎么把这两串东西接起来，让模型既看得见、又想得明白？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视觉编码器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出视觉 token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？？？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怎么对接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文字推理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58775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33172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输出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365760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业界给了三个答案，本质区别只有一句：让 LLM「读」视觉 token 的方式不同。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投影层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68096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把视觉向量「翻译」成 LLM 能读的词向量，直接塞进输入序列。最简单、最流行。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4325112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4325112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4526280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不塞进序列，而是让 LLM 的层「侧头去看」图像特征。能力强、改动大。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8083296" y="4251960"/>
            <a:ext cx="3538728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Rounded Rectangle 24"/>
          <p:cNvSpPr/>
          <p:nvPr/>
        </p:nvSpPr>
        <p:spPr>
          <a:xfrm>
            <a:off x="8083296" y="425196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8284464" y="4855464"/>
            <a:ext cx="3136392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先用一个小模块把上千视觉 token 压成几十个精华，再塞进去。省算力。</a:t>
            </a:r>
          </a:p>
        </p:txBody>
      </p:sp>
    </p:spTree>
  </p:cSld>
  <p:clrMapOvr>
    <a:masterClrMapping/>
  </p:clrMapOvr>
</p:sld>
</file>

<file path=ppt/slides/slide2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投影层（Projection）：给视觉装个「转接头」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代表：LLaVA。做法极简，却是今天开源 VLM 的主流。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图像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→ 编码器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视觉向量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投影层 MLP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关键：翻译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拼进文字序列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当普通 token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21991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196596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一起读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连看带答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结构简单，训练只需练那层小小的投影层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LLM 主体几乎不动，能复用现成强模型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开源社区能低成本复刻，生态最繁荣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37560"/>
            <a:ext cx="5394959" cy="17373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37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3977639"/>
            <a:ext cx="4974336" cy="9601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直接进序列，token 开销大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高分辨率图会让序列很长、很贵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精细对齐能力略逊于交叉注意力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52578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类比：图像和文字说两种语言，投影层就是那个「同声传译」，把视觉向量翻成 LLM 听得懂的「词」。</a:t>
            </a:r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交叉注意力（Cross-Attention）：让大脑「侧头看图」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代表：Flamingo。不把视觉 token 塞进输入序列，而是在 LLM 内部插入交叉注意力层，让文字在生成时「按需回头看」图像特征。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为什么这样设计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文字序列不被图像 token 撑长，长上下文更省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图像特征可以很丰富，不必压进有限 token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天然支持图文交错（多张图 + 多段文字）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42316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4231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63239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要往 LLM 里插新层 → 改动大、训练更重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实现复杂，开源复刻门槛高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不如投影层那样即插即用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470916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1A2733"/>
                </a:solidFill>
                <a:latin typeface="Calibri"/>
              </a:rPr>
              <a:t>类比：投影层是把图「翻译成话」一起念；交叉注意力是让读者一边读文字、一边随时抬头瞄一眼那张图。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4406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5504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选型含义：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能力强但工程重——所以更多出现在大厂自研旗舰里，开源阵营偏爱更轻的投影层。</a:t>
            </a:r>
          </a:p>
        </p:txBody>
      </p:sp>
    </p:spTree>
  </p:cSld>
  <p:clrMapOvr>
    <a:masterClrMapping/>
  </p:clrMapOvr>
</p:sld>
</file>

<file path=ppt/slides/slide2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路线三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Q-Former（BLIP-2）：先「浓缩」再喂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代表：BLIP-2。痛点是视觉 token 太多太贵。Q-Former 是个小桥梁：用一组可学习的「查询向量」，从上千视觉 token 里萃取出几十个最有用的，再交给 LLM。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上千视觉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编码器输出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081528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410712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Q-Former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一组查询向量萃取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925312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254496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几十个精华 token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浓缩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769096" y="277063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098280" y="2514600"/>
            <a:ext cx="2532888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喂给 LLM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省算力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优点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把视觉 token 压到几十个，序列短、便宜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视觉编码器和 LLM 都可冻结，只训练小桥梁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 / 推理成本都友好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7" y="3794760"/>
            <a:ext cx="5394959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7" y="3794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4434840"/>
            <a:ext cx="4974336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浓缩过程可能丢细节（小字、密集图表）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多一个模块，pipeline 更复杂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近年被更简单的投影层部分取代</a:t>
            </a:r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三路线对比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一张表看懂三种融合：拿什么换什么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600200"/>
            <a:ext cx="17373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路线</a:t>
            </a:r>
          </a:p>
        </p:txBody>
      </p:sp>
      <p:sp>
        <p:nvSpPr>
          <p:cNvPr id="7" name="Rectangle 6"/>
          <p:cNvSpPr/>
          <p:nvPr/>
        </p:nvSpPr>
        <p:spPr>
          <a:xfrm>
            <a:off x="2304288" y="160020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</a:t>
            </a:r>
          </a:p>
        </p:txBody>
      </p:sp>
      <p:sp>
        <p:nvSpPr>
          <p:cNvPr id="8" name="Rectangle 7"/>
          <p:cNvSpPr/>
          <p:nvPr/>
        </p:nvSpPr>
        <p:spPr>
          <a:xfrm>
            <a:off x="3858768" y="1600200"/>
            <a:ext cx="3291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怎么接</a:t>
            </a:r>
          </a:p>
        </p:txBody>
      </p:sp>
      <p:sp>
        <p:nvSpPr>
          <p:cNvPr id="9" name="Rectangle 8"/>
          <p:cNvSpPr/>
          <p:nvPr/>
        </p:nvSpPr>
        <p:spPr>
          <a:xfrm>
            <a:off x="7150608" y="1600200"/>
            <a:ext cx="23317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优势</a:t>
            </a:r>
          </a:p>
        </p:txBody>
      </p:sp>
      <p:sp>
        <p:nvSpPr>
          <p:cNvPr id="10" name="Rectangle 9"/>
          <p:cNvSpPr/>
          <p:nvPr/>
        </p:nvSpPr>
        <p:spPr>
          <a:xfrm>
            <a:off x="9482328" y="1600200"/>
            <a:ext cx="21488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代价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66928" y="2057400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投影层</a:t>
            </a:r>
          </a:p>
        </p:txBody>
      </p:sp>
      <p:sp>
        <p:nvSpPr>
          <p:cNvPr id="12" name="Rectangle 11"/>
          <p:cNvSpPr/>
          <p:nvPr/>
        </p:nvSpPr>
        <p:spPr>
          <a:xfrm>
            <a:off x="2304288" y="2057400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LLaVA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858768" y="2057400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视觉向量翻译成词，塞进序列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150608" y="2057400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简单、生态繁荣、易复刻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82328" y="2057400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token 多、序列长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2770632"/>
            <a:ext cx="173736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交叉注意力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304288" y="2770632"/>
            <a:ext cx="155448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Flamingo</a:t>
            </a:r>
          </a:p>
        </p:txBody>
      </p:sp>
      <p:sp>
        <p:nvSpPr>
          <p:cNvPr id="18" name="Rectangle 17"/>
          <p:cNvSpPr/>
          <p:nvPr/>
        </p:nvSpPr>
        <p:spPr>
          <a:xfrm>
            <a:off x="3858768" y="2770632"/>
            <a:ext cx="3291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LLM 内部插层，按需看图</a:t>
            </a:r>
          </a:p>
        </p:txBody>
      </p:sp>
      <p:sp>
        <p:nvSpPr>
          <p:cNvPr id="19" name="Rectangle 18"/>
          <p:cNvSpPr/>
          <p:nvPr/>
        </p:nvSpPr>
        <p:spPr>
          <a:xfrm>
            <a:off x="7150608" y="2770632"/>
            <a:ext cx="233172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省序列、图文交错强</a:t>
            </a:r>
          </a:p>
        </p:txBody>
      </p:sp>
      <p:sp>
        <p:nvSpPr>
          <p:cNvPr id="20" name="Rectangle 19"/>
          <p:cNvSpPr/>
          <p:nvPr/>
        </p:nvSpPr>
        <p:spPr>
          <a:xfrm>
            <a:off x="9482328" y="2770632"/>
            <a:ext cx="2148840" cy="713232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改动大、工程重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3483864"/>
            <a:ext cx="173736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Q-Former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304288" y="3483864"/>
            <a:ext cx="155448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BLIP-2</a:t>
            </a:r>
          </a:p>
        </p:txBody>
      </p:sp>
      <p:sp>
        <p:nvSpPr>
          <p:cNvPr id="23" name="Rectangle 22"/>
          <p:cNvSpPr/>
          <p:nvPr/>
        </p:nvSpPr>
        <p:spPr>
          <a:xfrm>
            <a:off x="3858768" y="3483864"/>
            <a:ext cx="3291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萃取几十个精华 token</a:t>
            </a:r>
          </a:p>
        </p:txBody>
      </p:sp>
      <p:sp>
        <p:nvSpPr>
          <p:cNvPr id="24" name="Rectangle 23"/>
          <p:cNvSpPr/>
          <p:nvPr/>
        </p:nvSpPr>
        <p:spPr>
          <a:xfrm>
            <a:off x="7150608" y="3483864"/>
            <a:ext cx="233172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省算力、可冻结主体</a:t>
            </a:r>
          </a:p>
        </p:txBody>
      </p:sp>
      <p:sp>
        <p:nvSpPr>
          <p:cNvPr id="25" name="Rectangle 24"/>
          <p:cNvSpPr/>
          <p:nvPr/>
        </p:nvSpPr>
        <p:spPr>
          <a:xfrm>
            <a:off x="9482328" y="3483864"/>
            <a:ext cx="2148840" cy="713232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可能丢细节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502920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513892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对客一句话：绝大多数开源 VLM 走投影层；追极致能力的大厂旗舰用交叉注意力；要省成本的场景看 Q-Former 思路。不必记论文，记这条选择逻辑。</a:t>
            </a:r>
          </a:p>
        </p:txBody>
      </p:sp>
    </p:spTree>
  </p:cSld>
  <p:clrMapOvr>
    <a:masterClrMapping/>
  </p:clrMapOvr>
</p:sld>
</file>

<file path=ppt/slides/slide3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融合时机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早融合 vs 晚融合：在「哪一步」把模态合起来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早融合 Early Fusion（原生多模态）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训练时文字和图像就搅在一起学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模型内部形成统一的跨模态表示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代表：Gemini 3.1 Pro、GPT-5.5 这类原生旗舰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强：跨模态推理、图文深度关联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难：训练贵、数据要求高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926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晚融合 Late Fusion（拼接）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148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各模态先各自处理，最后一步才汇合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常见做法：OCR/ASR 转文字 → 喂纯文本 LLM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代表：文档抽取 + LLM 这类工程管线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强：工程可控、便宜、可复用现成组件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弱：跨模态推理弱、误差会累积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「早 / 晚融合」是学术说法，落到工程就是下一页的「原生 vs 拼管线」——这才是客户真正要做的那个决定。</a:t>
            </a:r>
          </a:p>
        </p:txBody>
      </p:sp>
    </p:spTree>
  </p:cSld>
  <p:clrMapOvr>
    <a:masterClrMapping/>
  </p:clrMapOvr>
</p:sld>
</file>

<file path=ppt/slides/slide3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灵魂页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原生多模态 vs 拼管线：客户最纠结、你最能体现价值的一页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原生多模态模型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一个模型端到端：直接「看图 → 理解 → 回答」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强项：图表推理、复杂版式、开放问答、图文关联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省去拼装，链路短、维护简单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代价：贵、慢、可能幻觉，能力是「黑盒」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适合：理解密集、版式多变、要开放问答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08760"/>
            <a:ext cx="5394959" cy="32918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087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拼管线（OCR/ASR（Automatic Speech Recognition） + LLM）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48839"/>
            <a:ext cx="4974336" cy="2514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先转文字，再用便宜的文本 LLM 处理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强项：稳定字段、可控、便宜、每步可替换 / 可审计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各环节可用专用服务（OCR 服务等）优化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代价：跨模态弱、误差累积、拼装维护成本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适合：版式固定、字段稳定、对成本 / 可控性敏感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很多真实系统是「混合」：稳定部分走 OCR 管线省钱，疑难部分兜底给原生多模态。别把它当二选一。</a:t>
            </a:r>
          </a:p>
        </p:txBody>
      </p:sp>
    </p:spTree>
  </p:cSld>
  <p:clrMapOvr>
    <a:masterClrMapping/>
  </p:clrMapOvr>
</p:sld>
</file>

<file path=ppt/slides/slide3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决策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三个问题，帮客户在「原生」和「拼管线」间落子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45920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822960" y="1783080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① 版式稳定吗？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114800" y="1773936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固定表单 / 票据 → 偏拼管线（OCR 够用、便宜）；版式千变万化 → 偏原生。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66928" y="2670048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822960" y="2807208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114800" y="2798064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只要把字抠出来 → 拼管线；要回答「这图说明了什么」→ 原生。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694176"/>
            <a:ext cx="11064240" cy="9144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2960" y="3831336"/>
            <a:ext cx="3200400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0E4D64"/>
                </a:solidFill>
                <a:latin typeface="Calibri"/>
              </a:rPr>
              <a:t>③ 成本 / 可控性有多敏感？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114800" y="3822191"/>
            <a:ext cx="7315200" cy="65836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量大、要审计、预算紧 → 拼管线；要开放能力、可容忍成本 → 原生。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502920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68096" y="513892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三个问题走完，方案基本定型。多数企业文档场景的最优解是「拼管线打底 + 原生兜底」的混合式。</a:t>
            </a:r>
          </a:p>
        </p:txBody>
      </p:sp>
    </p:spTree>
  </p:cSld>
  <p:clrMapOvr>
    <a:masterClrMapping/>
  </p:clrMapOvr>
</p:sld>
</file>

<file path=ppt/slides/slide3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3 章 · 模态怎么拼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找一个开源 VLM（如 LLaVA / Qwen-VL 系）的架构图，指出「视觉编码器 → 投影层 → LLM」三段，说清投影层在训练时练的是什么。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同一份扫描合同，分别走「云 OCR → 文本 LLM 抽字段」和「原生多模态模型直接问答」，比较准确率、成本、维护复杂度。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把上一题的结论整理成一张「原生 vs 拼管线」对比卡——这就是你下次对客答疑的现成弹药。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题是本章精华：亲手做一遍，你就真正理解了「原生 vs 拼管线」不是玄学，而是成本 / 能力 / 可控性的权衡。</a:t>
            </a:r>
          </a:p>
        </p:txBody>
      </p:sp>
    </p:spTree>
  </p:cSld>
  <p:clrMapOvr>
    <a:masterClrMapping/>
  </p:clrMapOvr>
</p:sld>
</file>

<file path=ppt/slides/slide3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多模态模型内部到底怎么把图和文字合起来的？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主流是「投影层」：视觉编码器把图变成向量，再用一层小网络翻译成 LLM 能读的词向量，拼进文字序列一起处理。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5146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我该用原生多模态，还是自己拼 OCR + LLM？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9672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版式固定、只要抠字段、要省钱可控 → 拼管线；版式多变、要理解 / 开放问答 → 原生。很多系统是两者混合。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456432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拼管线便宜，为什么还要原生多模态？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909060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OCR 只给字、丢了版式和图表语义，遇到「看图推理」就答不了；原生能连看带理解，是拼管线的能力上限之外的兜底。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39826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和闭源旗舰的架构差在哪？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85089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开源多用轻量的投影层（易复刻）；闭源旗舰常用更重的交叉注意力 / 原生早融合，能力更强但工程和成本也更高。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3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三条路线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投影层（简单主流）、交叉注意力（强但重）、Q-Former（省算力）。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两种时机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早融合=原生多模态；晚融合=拼管线，落到工程就是那个关键决定。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灵魂取舍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原生：能理解、省链路、贵而黑盒；拼管线：便宜可控、跨模态弱。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最优常是混合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拼管线打底省钱 + 原生兜底疑难，别做二选一。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3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4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理解侧能力盘点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Understanding · 图 / 文档 / 视频 / 语音 + 模型格局</a:t>
            </a:r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理解侧盘点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盘清理解侧四大场景：图像、文档、视频、语音，各自能做什么、难在哪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重点讲「文档理解」——售前最高频的落地场景（OCR-free、版式 / 图表 / 表格）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年多模态理解的模型格局：闭源旗舰 vs 开源 VLM，以及关键基准数字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知道理解侧的能力边界与常见幻觉，能给客户设合理预期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3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图像理解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图像理解：从「认出是什么」到「看懂在说什么」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能力层次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1508760"/>
            <a:ext cx="5029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例子</a:t>
            </a:r>
          </a:p>
        </p:txBody>
      </p:sp>
      <p:sp>
        <p:nvSpPr>
          <p:cNvPr id="8" name="Rectangle 7"/>
          <p:cNvSpPr/>
          <p:nvPr/>
        </p:nvSpPr>
        <p:spPr>
          <a:xfrm>
            <a:off x="8522208" y="1508760"/>
            <a:ext cx="31089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难度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识别 / 描述</a:t>
            </a:r>
          </a:p>
        </p:txBody>
      </p:sp>
      <p:sp>
        <p:nvSpPr>
          <p:cNvPr id="10" name="Rectangle 9"/>
          <p:cNvSpPr/>
          <p:nvPr/>
        </p:nvSpPr>
        <p:spPr>
          <a:xfrm>
            <a:off x="3493008" y="1965960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图里有什么、生成一句话描述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522208" y="1965960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低，基本都能做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图像问答 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2532888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这张图里有几个人、颜色是什么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522208" y="2532888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图表 / 示意图理解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493008" y="3099816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这张折线图说明了什么趋势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522208" y="3099816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高，考验推理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92608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空间 / 关系推理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493008" y="3666744"/>
            <a:ext cx="502920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猫在狗的左边还是右边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522208" y="3666744"/>
            <a:ext cx="31089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高，模型常错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92608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细粒度 OCR</a:t>
            </a:r>
          </a:p>
        </p:txBody>
      </p:sp>
      <p:sp>
        <p:nvSpPr>
          <p:cNvPr id="22" name="Rectangle 21"/>
          <p:cNvSpPr/>
          <p:nvPr/>
        </p:nvSpPr>
        <p:spPr>
          <a:xfrm>
            <a:off x="3493008" y="4233672"/>
            <a:ext cx="502920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读出图里的小字、公式、表格</a:t>
            </a:r>
          </a:p>
        </p:txBody>
      </p:sp>
      <p:sp>
        <p:nvSpPr>
          <p:cNvPr id="23" name="Rectangle 22"/>
          <p:cNvSpPr/>
          <p:nvPr/>
        </p:nvSpPr>
        <p:spPr>
          <a:xfrm>
            <a:off x="8522208" y="4233672"/>
            <a:ext cx="31089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高，看分辨率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对客设预期：「认出 / 描述」几乎无差别，「图表推理」和「空间关系」才是拉开模型差距、也最容易翻车的地方。</a:t>
            </a:r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文档理解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文档理解：售前最高频的落地场景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传统链路：OCR 抠字 → 规则 / 版式分析 → 抽字段。多模态大模型带来「OCR-free」路线：直接看着文档回答问题、抽结构化数据。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多模态文档理解能做什么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版式解析：标题 / 段落 / 表格 / 印章位置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表格 / 图表 → 结构化 JSON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跨页、跨区域关联问答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手写、复杂版式也有戏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194560"/>
            <a:ext cx="5394959" cy="1965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19456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上云怎么落地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2834639"/>
            <a:ext cx="4974336" cy="118871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专用文档智能：Document AI / OCR 类服务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通用多模态：Bedrock / Vertex / 千问 API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高精度固定单据 → 专用 OCR 更划算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1606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开放版式问答 → 多模态模型兜底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落地口径：把文档任务拆成「稳定字段」和「疑难理解」两堆——前者交专用 OCR 服务，后者交多模态模型，成本最优。</a:t>
            </a:r>
          </a:p>
        </p:txBody>
      </p:sp>
    </p:spTree>
  </p:cSld>
  <p:clrMapOvr>
    <a:masterClrMapping/>
  </p:clrMapOvr>
</p:sld>
</file>

<file path=ppt/slides/slide4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视频理解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视频理解：多了一个「时间」维度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视频 = 图像序列 + 时间 + （常有）音频。核心挑战：帧太多，不可能每帧都全分辨率喂进去。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原始视频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几千帧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抽帧 / 采样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降到几十帧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每帧编码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视觉 token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+ 时序信息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知道先后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26771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01168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模型理解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摘要 / 定位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能做的事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视频摘要 / 内容审核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动作 / 事件识别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时序定位：第几秒发生了什么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长视频问答（配长上下文）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383280"/>
            <a:ext cx="5394959" cy="1828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3832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落地要注意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023360"/>
            <a:ext cx="4974336" cy="10515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抽帧策略直接决定成本和精度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长视频 token 爆炸，需长上下文模型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实时 vs 离线，架构差别大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音轨要不要一起处理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Gemini 系以「原生视频 + 超长上下文」见长，是长视频理解的代表打法；开源侧 Qwen-VL 也在补齐视频能力。</a:t>
            </a:r>
          </a:p>
        </p:txBody>
      </p:sp>
    </p:spTree>
  </p:cSld>
  <p:clrMapOvr>
    <a:masterClrMapping/>
  </p:clrMapOvr>
</p:sld>
</file>

<file path=ppt/slides/slide4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语音理解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语音理解：从「转写」到「听懂并对话」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54480"/>
            <a:ext cx="2560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能力</a:t>
            </a:r>
          </a:p>
        </p:txBody>
      </p:sp>
      <p:sp>
        <p:nvSpPr>
          <p:cNvPr id="7" name="Rectangle 6"/>
          <p:cNvSpPr/>
          <p:nvPr/>
        </p:nvSpPr>
        <p:spPr>
          <a:xfrm>
            <a:off x="3127248" y="1554480"/>
            <a:ext cx="49377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说明</a:t>
            </a:r>
          </a:p>
        </p:txBody>
      </p:sp>
      <p:sp>
        <p:nvSpPr>
          <p:cNvPr id="8" name="Rectangle 7"/>
          <p:cNvSpPr/>
          <p:nvPr/>
        </p:nvSpPr>
        <p:spPr>
          <a:xfrm>
            <a:off x="8065008" y="1554480"/>
            <a:ext cx="3566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 / 落地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2011680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语音转写 ASR</a:t>
            </a:r>
          </a:p>
        </p:txBody>
      </p:sp>
      <p:sp>
        <p:nvSpPr>
          <p:cNvPr id="10" name="Rectangle 9"/>
          <p:cNvSpPr/>
          <p:nvPr/>
        </p:nvSpPr>
        <p:spPr>
          <a:xfrm>
            <a:off x="3127248" y="2011680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把语音转成文字（字幕、会议纪要）</a:t>
            </a:r>
          </a:p>
        </p:txBody>
      </p:sp>
      <p:sp>
        <p:nvSpPr>
          <p:cNvPr id="11" name="Rectangle 10"/>
          <p:cNvSpPr/>
          <p:nvPr/>
        </p:nvSpPr>
        <p:spPr>
          <a:xfrm>
            <a:off x="8065008" y="2011680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专用 ASR 服务 / Whisper 类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15184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说话人 / 情绪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127248" y="2615184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谁在说、语气如何</a:t>
            </a:r>
          </a:p>
        </p:txBody>
      </p:sp>
      <p:sp>
        <p:nvSpPr>
          <p:cNvPr id="14" name="Rectangle 13"/>
          <p:cNvSpPr/>
          <p:nvPr/>
        </p:nvSpPr>
        <p:spPr>
          <a:xfrm>
            <a:off x="8065008" y="2615184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进阶，部分模型支持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18688"/>
            <a:ext cx="256032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语音直接对话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127248" y="3218688"/>
            <a:ext cx="49377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不转文字，端到端语音进语音出</a:t>
            </a:r>
          </a:p>
        </p:txBody>
      </p:sp>
      <p:sp>
        <p:nvSpPr>
          <p:cNvPr id="17" name="Rectangle 16"/>
          <p:cNvSpPr/>
          <p:nvPr/>
        </p:nvSpPr>
        <p:spPr>
          <a:xfrm>
            <a:off x="8065008" y="3218688"/>
            <a:ext cx="356616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原生语音模型（低延迟对话）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822192"/>
            <a:ext cx="256032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音频事件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127248" y="3822192"/>
            <a:ext cx="49377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识别掌声、警报、音乐等非语音</a:t>
            </a:r>
          </a:p>
        </p:txBody>
      </p:sp>
      <p:sp>
        <p:nvSpPr>
          <p:cNvPr id="20" name="Rectangle 19"/>
          <p:cNvSpPr/>
          <p:nvPr/>
        </p:nvSpPr>
        <p:spPr>
          <a:xfrm>
            <a:off x="8065008" y="3822192"/>
            <a:ext cx="356616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安防 / 质检场景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349240"/>
            <a:ext cx="11064240" cy="6858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458968"/>
            <a:ext cx="10661904" cy="50292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选型分水岭：只要字幕 / 纪要 → 便宜的专用 ASR 就够；要「实时语音助手」→ 才需要原生语音对话模型。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8" y="454456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768096" y="461772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本页讲「听懂」的能力；把它做成低延迟、可打断的实时对话链路（延迟预算 / 级联 vs 端到端 / RTC），见第 8 章 · 语音与实时交互。</a:t>
            </a:r>
          </a:p>
        </p:txBody>
      </p:sp>
    </p:spTree>
  </p:cSld>
  <p:clrMapOvr>
    <a:masterClrMapping/>
  </p:clrMapOvr>
</p:sld>
</file>

<file path=ppt/slides/slide4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模型格局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2026 理解侧格局：闭源旗舰 vs 开源 VLM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031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阵营</a:t>
            </a:r>
          </a:p>
        </p:txBody>
      </p:sp>
      <p:sp>
        <p:nvSpPr>
          <p:cNvPr id="7" name="Rectangle 6"/>
          <p:cNvSpPr/>
          <p:nvPr/>
        </p:nvSpPr>
        <p:spPr>
          <a:xfrm>
            <a:off x="2670048" y="1508760"/>
            <a:ext cx="3840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代表模型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6510528" y="1508760"/>
            <a:ext cx="51206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 / 关键数字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闭源旗舰</a:t>
            </a:r>
          </a:p>
        </p:txBody>
      </p:sp>
      <p:sp>
        <p:nvSpPr>
          <p:cNvPr id="10" name="Rectangle 9"/>
          <p:cNvSpPr/>
          <p:nvPr/>
        </p:nvSpPr>
        <p:spPr>
          <a:xfrm>
            <a:off x="2670048" y="1965960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GPT-5.5、Gemini 3.1 Pro、Claude Opus 5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510528" y="1965960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原生多模态 + 1M 级上下文 + thinking；音视频原生仅 Gemini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624328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综合强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670048" y="2624328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InternVL3.5（Apache-2.0）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510528" y="2624328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官方称开源 MLLM 综合 SOTA（State of the Art），逼近闭源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282696"/>
            <a:ext cx="210312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推理/文档强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670048" y="3282696"/>
            <a:ext cx="384048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Qwen3-VL Thinking（Apache-2.0）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510528" y="3282696"/>
            <a:ext cx="5120640" cy="65836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Thinking 档居开源 MMMU 前列；文档 / OCR 同为第一梯队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941063"/>
            <a:ext cx="210312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开源 · 生态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670048" y="3941063"/>
            <a:ext cx="384048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Llama 4、Pixtral、Phi-4 MM、Molmo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510528" y="3941063"/>
            <a:ext cx="5120640" cy="65836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原生图像理解，许可 / 部署各有侧重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8686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68580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2026-08-01。MMMU（大学级多学科理解）、OCRBench（文字识别）是理解侧最常引用的两把尺子。对客别只报名字，报「在什么基准上、什么日期、多少分」。</a:t>
            </a:r>
          </a:p>
        </p:txBody>
      </p:sp>
    </p:spTree>
  </p:cSld>
  <p:clrMapOvr>
    <a:masterClrMapping/>
  </p:clrMapOvr>
</p:sld>
</file>

<file path=ppt/slides/slide4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能力边界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理解侧会在哪儿翻车？给客户设对预期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54480"/>
            <a:ext cx="11064240" cy="41148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空间关系易错：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「左边 / 右边、上 / 下、谁在谁前面」这类精确空间判断，模型常答反。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小字 / 密集表格丢信息：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分辨率不够时，长串数字、密集表格容易读错或漏读。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幻觉：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图里没有的东西也可能「言之凿凿」地描述出来，尤其被诱导时。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计数不准：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数清楚「图里有几个人 / 几只羊」对模型仍是老大难。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跨页 / 超长视频衰减：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上下文越长，越靠后的细节越容易被忽略。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69280"/>
            <a:ext cx="11064240" cy="640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79008"/>
            <a:ext cx="10661904" cy="45719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应对：关键场景必须配评估集 + 人审兜底，别拿「看着还行」上线——这条直接接第 7 章的评估与生产。</a:t>
            </a:r>
          </a:p>
        </p:txBody>
      </p:sp>
    </p:spTree>
  </p:cSld>
  <p:clrMapOvr>
    <a:masterClrMapping/>
  </p:clrMapOvr>
</p:sld>
</file>

<file path=ppt/slides/slide4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4 章 · 理解侧盘点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选 3 个模型（1 闭源旗舰 + 2 开源 VLM），用同一组图像 / 文档问题跑一遍，记录准确率与延迟，做一张自己的「小榜单」。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 5 道「陷阱题」（空间关系、数数、小字、图表推理、图里没有的东西），专门测模型会在哪翻车。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 题的陷阱题最有价值：它让你在客户面前既能讲能力、也能诚实讲边界，信任感立刻不一样。</a:t>
            </a:r>
          </a:p>
        </p:txBody>
      </p:sp>
    </p:spTree>
  </p:cSld>
  <p:clrMapOvr>
    <a:masterClrMapping/>
  </p:clrMapOvr>
</p:sld>
</file>

<file path=ppt/slides/slide4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多模态模型能替代我现在的 OCR 系统吗？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能理解得更深（图表 / 版式 / 开放问答），但固定单据的稳定抠字，专用 OCR 往往更准更便宜。多数场景是两者配合。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开源 VLM 能打过 GPT-5.5 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单项基准（如 MMMU）开源 Qwen3-VL、InternVL3.5 已逼近闭源；但综合能力、稳定性、长上下文，闭源旗舰仍领先。看场景。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视频理解为什么贵？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视频帧多，抽帧后每帧还要编码成大量视觉 token，长视频容易 token 爆炸，所以对上下文长度和费用都是考验。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模型看图会不会瞎编？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会。图里没有的东西也可能被「自信地」描述，尤其空间关系和计数。关键场景必须配评估和人审兜底。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4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四大场景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图像、文档、视频、语音；文档理解是售前最高频落地点。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文档打法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稳定字段交专用 OCR，疑难理解交多模态，成本最优。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模型格局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闭源旗舰领先；开源 Qwen3-VL / InternVL3.5 已逼近，看基准报数。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边界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空间关系、计数、小字、幻觉是常见翻车点，必配评估兜底。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理解侧盘点</a:t>
            </a:r>
          </a:p>
        </p:txBody>
      </p:sp>
    </p:spTree>
  </p:cSld>
  <p:clrMapOvr>
    <a:masterClrMapping/>
  </p:clrMapOvr>
</p:sld>
</file>

<file path=ppt/slides/slide4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5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生成侧能力盘点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Generation · 图像 / 视频 / 语音 &amp; any-to-any</a:t>
            </a:r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讲清图像生成两大流派——扩散（Diffusion）与自回归（Autoregressive）的区别和各自强项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 2026 原生图像生成格局：GPT Image 2、Nano Banana 2 及「和 LLM 紧耦合」的趋势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盘点文生视频、语音合成 TTS、any-to-any 全模态的现状与落地边界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知道生成侧的坑：版权、水印、一致性、可控性——对客户如实设预期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原生图像生成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原生生成：图像模型正在和 LLM「合体」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2588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00" b="0" i="0">
                <a:solidFill>
                  <a:srgbClr val="1A2733"/>
                </a:solidFill>
                <a:latin typeface="Calibri"/>
              </a:rPr>
              <a:t>2026 的大趋势：图像生成不再是独立的 DALL·E 式扩散模块，而是和语言模型栈紧耦合的原生自回归能力——「懂世界知识、听得懂复杂话」。</a:t>
            </a:r>
          </a:p>
        </p:txBody>
      </p:sp>
      <p:sp>
        <p:nvSpPr>
          <p:cNvPr id="7" name="Rectangle 6"/>
          <p:cNvSpPr/>
          <p:nvPr/>
        </p:nvSpPr>
        <p:spPr>
          <a:xfrm>
            <a:off x="566928" y="210312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模型</a:t>
            </a:r>
          </a:p>
        </p:txBody>
      </p:sp>
      <p:sp>
        <p:nvSpPr>
          <p:cNvPr id="8" name="Rectangle 7"/>
          <p:cNvSpPr/>
          <p:nvPr/>
        </p:nvSpPr>
        <p:spPr>
          <a:xfrm>
            <a:off x="2944368" y="2103120"/>
            <a:ext cx="15544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发布</a:t>
            </a:r>
          </a:p>
        </p:txBody>
      </p:sp>
      <p:sp>
        <p:nvSpPr>
          <p:cNvPr id="9" name="Rectangle 8"/>
          <p:cNvSpPr/>
          <p:nvPr/>
        </p:nvSpPr>
        <p:spPr>
          <a:xfrm>
            <a:off x="4498848" y="2103120"/>
            <a:ext cx="713232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2560320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GPT Image 2</a:t>
            </a:r>
          </a:p>
        </p:txBody>
      </p:sp>
      <p:sp>
        <p:nvSpPr>
          <p:cNvPr id="11" name="Rectangle 10"/>
          <p:cNvSpPr/>
          <p:nvPr/>
        </p:nvSpPr>
        <p:spPr>
          <a:xfrm>
            <a:off x="2944368" y="2560320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2026-04</a:t>
            </a:r>
          </a:p>
        </p:txBody>
      </p:sp>
      <p:sp>
        <p:nvSpPr>
          <p:cNvPr id="12" name="Rectangle 11"/>
          <p:cNvSpPr/>
          <p:nvPr/>
        </p:nvSpPr>
        <p:spPr>
          <a:xfrm>
            <a:off x="4498848" y="2560320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全新自回归架构，比前代快 3–5×；多约束指令 ≈98% 准确；文字渲染近字符级精确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310127"/>
            <a:ext cx="237744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Nano Banana 2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310127"/>
            <a:ext cx="155448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2026-02</a:t>
            </a:r>
          </a:p>
        </p:txBody>
      </p:sp>
      <p:sp>
        <p:nvSpPr>
          <p:cNvPr id="15" name="Rectangle 14"/>
          <p:cNvSpPr/>
          <p:nvPr/>
        </p:nvSpPr>
        <p:spPr>
          <a:xfrm>
            <a:off x="4498848" y="3310127"/>
            <a:ext cx="7132320" cy="74980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即 Gemini 3.1 Flash Image；「Pro 质量 + Flash 速度」，3–5 秒出图，512px–4K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059935"/>
            <a:ext cx="237744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FLUX.2 / Midjourney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4059935"/>
            <a:ext cx="155448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持续迭代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498848" y="4059935"/>
            <a:ext cx="7132320" cy="74980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扩散阵营写实 / 美学标杆，艺术类创作首选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21208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32180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时效：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核实于 2026-07-09。「原生自回归 + 世界知识」是当下方向，但扩散在纯美学场景仍不可替代——不是谁淘汰谁。</a:t>
            </a:r>
          </a:p>
        </p:txBody>
      </p:sp>
    </p:spTree>
  </p:cSld>
  <p:clrMapOvr>
    <a:masterClrMapping/>
  </p:clrMapOvr>
</p:sld>
</file>

<file path=ppt/slides/slide5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文生视频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文生视频：最烧钱、进步最快的方向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508760"/>
            <a:ext cx="11064240" cy="42062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能力现状：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几秒到几十秒的高质量短视频已可用，画质 / 连贯性快速提升。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核心难点：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时间一致性（人物 / 场景跨帧不能变形）、物理合理性、可控性。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落地场景：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广告 / 营销素材、电商展示、动画分镜、创意预览。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成本特征：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生成一段视频的算力远高于图像，按秒 / 按分辨率计费，贵。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代表方向：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文生视频 + 图生视频 + 首尾帧控制，正快速产品化。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62356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573328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对客设预期：视频生成适合「创意 / 草稿 / 素材」，还不适合「一次成片、零后期」的严肃交付。</a:t>
            </a:r>
          </a:p>
        </p:txBody>
      </p:sp>
    </p:spTree>
  </p:cSld>
  <p:clrMapOvr>
    <a:masterClrMapping/>
  </p:clrMapOvr>
</p:sld>
</file>

<file path=ppt/slides/slide5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语音合成与语音对话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让模型「说」：TTS 与实时语音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语音合成 TTS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文字 → 自然语音，音色 / 情感可控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声音克隆：几秒样本复刻音色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落地：有声书、客服播报、视频配音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注意：音色克隆的合规与授权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28600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实时语音对话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508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端到端语音进 / 语音出，低延迟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不必「转文字再合成」，更自然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落地：语音助手、电话客服、陪练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注意：打断 / 插话 / 情绪的工程难度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16052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27024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选型：批量播报 / 配音 → TTS 服务即可；要「能聊天的语音助手」→ 才上原生实时语音模型，成本和工程都更高。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5138928"/>
            <a:ext cx="11064240" cy="603504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68096" y="5212080"/>
            <a:ext cx="10661904" cy="45720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1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100" b="0">
                <a:solidFill>
                  <a:srgbClr val="1A2733"/>
                </a:solidFill>
                <a:latin typeface="Calibri"/>
              </a:rPr>
              <a:t>TTS 与实时语音是「会说」的能力；成本账、打断工程与框架选型（Pipecat / LiveKit）在第 8 章 · 语音与实时交互展开。</a:t>
            </a:r>
          </a:p>
        </p:txBody>
      </p:sp>
    </p:spTree>
  </p:cSld>
  <p:clrMapOvr>
    <a:masterClrMapping/>
  </p:clrMapOvr>
</p:sld>
</file>

<file path=ppt/slides/slide5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any-to-any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终局形态：一个模型，任意模态进 / 任意模态出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趋势是「统一多模态」：同一个模型既能看图听声、又能画图说话，输入输出都不限模态。原生旗舰正朝这个方向收敛。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任意输入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2512771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841955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787798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116982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统一模型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一个大脑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062825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7392009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文本 / 图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任意输出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9337852" y="2633472"/>
            <a:ext cx="347472" cy="36576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200" b="1" i="0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9667036" y="2377440"/>
            <a:ext cx="1964131" cy="914400"/>
          </a:xfrm>
          <a:prstGeom prst="roundRect">
            <a:avLst>
              <a:gd name="adj" fmla="val 10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50800" rIns="508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音频 / 视频</a:t>
            </a:r>
          </a:p>
          <a:p>
            <a:pPr algn="ctr"/>
            <a:r>
              <a:rPr sz="950">
                <a:solidFill>
                  <a:srgbClr val="EAF3F5"/>
                </a:solidFill>
                <a:latin typeface="Calibri"/>
              </a:rPr>
              <a:t>混合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566928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意味着什么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78638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链路进一步缩短，一个模型端到端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跨模态创作 / 理解无缝衔接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「多模态」慢慢变成模型的默认能力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236207" y="3749039"/>
            <a:ext cx="5394959" cy="17830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236207" y="3749039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现实提醒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55664" y="4389120"/>
            <a:ext cx="4974336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各模态质量仍不均衡，专用模型还有优势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成本 / 延迟 / 可控性依然是落地约束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别被「全能」宣传带节奏，按场景验证</a:t>
            </a:r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生成的坑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生成侧的四个「必须对客户说清」的问题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版权与合规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训练数据与产出的版权边界尚不清晰；商用需关注授权与平台条款。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水印与溯源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多国要求 AI 生成内容加标识（如隐形水印 / C2PA，Coalition for Content Provenance and Authenticity）；合规是硬要求。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一致性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同一角色 / 品牌形象跨图跨帧难保持一致，是落地最常见的痛点。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可控性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精确控制版式 / 文字 / 布局仍难，往往要多轮迭代 + 人工把关。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上云落地：图像 / 视频 / 语音生成都有托管服务，但「合规水印 + 内容审核」要作为方案标配写进去，别漏。</a:t>
            </a:r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生成侧盘点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生成资产：从草稿到发布的状态机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进行中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请求 → 权利检查（素材可用吗）→ 生成/编辑 → 打凭据（水印 / C2PA 类标识）——四步都要留记录。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等待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人工审核：品牌、安全、合规单独放行——不可逆传播之前，这道闸不能省。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终态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发布，或拒绝/撤销——发布不是终点：争议发生时要能定位、下架、撤销并通知。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主线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定范围 → 授权 → 过滤 → 人审 → 签发 → 监控；发布前保留输入、模型版本、参考资产、审核与凭据记录。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上一页四个坑（版权/水印/一致性/可控）是「风险清单」，这一页是「流程答案」——客户问「AI 生成物怎么管」，把这台状态机画给他。</a:t>
            </a:r>
          </a:p>
        </p:txBody>
      </p:sp>
    </p:spTree>
  </p:cSld>
  <p:clrMapOvr>
    <a:masterClrMapping/>
  </p:clrMapOvr>
</p:sld>
</file>

<file path=ppt/slides/slide5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5 章 · 生成侧盘点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同一条复杂提示词（含「左上角放红色标题、右下角写一行英文小字」），分别用扩散模型和自回归模型生成，比较空间关系和文字渲染的差距。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 TTS 服务把一段文字合成语音，再试音色 / 情感参数，体会「配音」类需求的可控程度。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1 题会让你一眼看懂「扩散美术生 vs 自回归逻辑生」——这是对客解释生成选型最直观的 demo。</a:t>
            </a:r>
          </a:p>
        </p:txBody>
      </p:sp>
    </p:spTree>
  </p:cSld>
  <p:clrMapOvr>
    <a:masterClrMapping/>
  </p:clrMapOvr>
</p:sld>
</file>

<file path=ppt/slides/slide5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生成图片用扩散还是自回归？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要艺术感 / 写实用扩散（Midjourney、FLUX）；要按复杂指令、带准确文字（海报、UI、信息图）用自回归（GPT Image 2、Nano Banana）。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文生视频能直接商用出片吗？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目前适合创意 / 草稿 / 素材，短视频质量已可用，但时间一致性和可控性还不足以「零后期一次成片」。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671315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AI 生成内容有法律风险吗？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1239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有两块：训练 / 产出的版权边界，以及多地要求的 AI 标识 / 水印。商用方案里要把授权和合规水印写进去。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461314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语音克隆很方便，能随便用吗？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065776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技术上几秒样本就能克隆，但音色属于个人权益，必须有授权；合规是这类功能能不能上线的前提。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5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两大流派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扩散=美术生（写实美学）；自回归=逻辑生（指令 / 文字 / 空间）。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原生趋势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图像生成和 LLM 紧耦合，GPT Image 2 / Nano Banana 2 领跑自回归。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视频 / 语音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视频最烧钱进步最快；语音分 TTS 与实时对话两档选型。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四个坑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版权、水印、一致性、可控性——方案里必须如实交代。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5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6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选型与动手做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Selection &amp; Hands-on · 成本 / 延迟 / 精度三角</a:t>
            </a:r>
          </a:p>
        </p:txBody>
      </p:sp>
    </p:spTree>
  </p:cSld>
  <p:clrMapOvr>
    <a:masterClrMapping/>
  </p:clrMapOvr>
</p:sld>
</file>

<file path=ppt/slides/slide6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用「成本 / 延迟 / 精度」三角，给客户框出多模态方案的取舍空间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读懂一段真实的多模态 API 调用（传图的两种方式：URL 与 base64）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算清一张图到底值多少 token、多少钱，回答客户最尖锐的成本追问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分清托管 API 和自建（vLLM 部署开源 VLM）两条路，以及各自适用场景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决策框架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成本 / 延迟 / 精度：三角里选两个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多模态方案没有「全都要」。像项目管理的铁三角一样，成本、延迟、精度三者互相拉扯，先问客户「哪个不能让」。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566928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精度优先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68096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4325112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4325112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成本优先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4526280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8083296" y="2148840"/>
            <a:ext cx="3538728" cy="23774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ounded Rectangle 16"/>
          <p:cNvSpPr/>
          <p:nvPr/>
        </p:nvSpPr>
        <p:spPr>
          <a:xfrm>
            <a:off x="8083296" y="2148840"/>
            <a:ext cx="3538728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延迟优先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8284464" y="2752344"/>
            <a:ext cx="3136392" cy="1645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小模型 / 缓存 / 预处理降 token；适合实时交互、语音对话。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47548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48646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对客开场白：「先告诉我三件事里哪个最不能妥协——精度、速度、还是成本？」方案立刻收敛，也显专业。</a:t>
            </a:r>
          </a:p>
        </p:txBody>
      </p:sp>
    </p:spTree>
  </p:cSld>
  <p:clrMapOvr>
    <a:masterClrMapping/>
  </p:clrMapOvr>
</p:sld>
</file>

<file path=ppt/slides/slide6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动手：真实调用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一段能跑的多模态调用：传图的两种方式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95528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URL 方式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95528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A：图片 URL（省带宽，模型端拉取）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messages=[{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"role":"user",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"content":[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{"type":"text","text":"抽出发票金额和日期"},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{"type":"image_url",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"image_url":{"url":"https://.../inv.png"}}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]}]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resp = client.chat.completions.create(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model="&lt;multimodal-model&gt;",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messages=messages)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153912" y="1463040"/>
            <a:ext cx="5486400" cy="402336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6382512" y="1572768"/>
            <a:ext cx="5029200" cy="2743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1" i="0">
                <a:solidFill>
                  <a:srgbClr val="F2A65A"/>
                </a:solidFill>
                <a:latin typeface="Courier New"/>
              </a:rPr>
              <a:t>base64 方式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82512" y="1920240"/>
            <a:ext cx="5029200" cy="36576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方式 B：base64 内联（本地图 / 私有数据）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import base64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b64 = base64.b64encode(open("inv.png","rb")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      .read()).decode()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content=[{"type":"text","text":"抽出金额和日期"},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{"type":"image_url","image_url":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EAF3F5"/>
                </a:solidFill>
                <a:latin typeface="Courier New"/>
              </a:rPr>
              <a:t>  {"url":f"data:image/png;base64,{b64}"}}]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高分辨率图 → base64 更大 → 传输更慢</a:t>
            </a:r>
          </a:p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0"/>
              </a:spcAft>
            </a:pPr>
            <a:r>
              <a:rPr sz="1150" b="0" i="0">
                <a:solidFill>
                  <a:srgbClr val="1CA3B8"/>
                </a:solidFill>
                <a:latin typeface="Courier New"/>
              </a:rPr>
              <a:t># 敏感数据别用公网 URL，用 base64/私网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669280"/>
            <a:ext cx="11064240" cy="658368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779008"/>
            <a:ext cx="10661904" cy="475488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两种方式语义相同、模态字段一致。选择点：公开图用 URL 省事；私有 / 敏感数据用 base64 或私网，别把内部图片挂公网。</a:t>
            </a:r>
          </a:p>
        </p:txBody>
      </p:sp>
    </p:spTree>
  </p:cSld>
  <p:clrMapOvr>
    <a:masterClrMapping/>
  </p:clrMapOvr>
</p:sld>
</file>

<file path=ppt/slides/slide6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一张图值多少 token？把账算给客户看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图像按 token 计费：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一张图会被折算成几十到上千个「视觉 token」，和文字 token 一起计价。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分辨率是主变量：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低分辨率一张图可能几十~百来 token；高分辨率 / 大图切块后可上千。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文档 / 多图场景最贵：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一份多页 PDF、一段视频抽帧，token 会成倍叠加。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省钱三招：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① 降到「够用」的分辨率；② 稳定部分走 OCR 不走大模型；③ 结果缓存 / 去重。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回答「传图贵不贵」的正确姿势：不是报单价，而是「按你的分辨率和图量，一张约 X token、一天约 Y 元」——把账落到他的量。</a:t>
            </a:r>
          </a:p>
        </p:txBody>
      </p:sp>
    </p:spTree>
  </p:cSld>
  <p:clrMapOvr>
    <a:masterClrMapping/>
  </p:clrMapOvr>
</p:sld>
</file>

<file path=ppt/slides/slide6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延迟与吞吐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为什么多模态比纯文本慢，怎么办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为什么慢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视觉 token 多 → 预填充（prefill）阶段变重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高分辨率 / 多图 / 视频让序列更长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首 token 延迟（TTFT，Time To First Token）明显高于纯文本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批处理时显存占用更大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246888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怎么优化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1691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降分辨率、控制图片数量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能缓存的结果就缓存（同图重复问）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离线批处理 vs 在线实时分开设计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自建时用 vLLM/SGL 做批处理与 KV（Key-Value） 复用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3434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44531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承上启下：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这条直接接第 2 章「token 之根」和第 7 章「成本膨胀」——多模态的慢和贵，根子都在视觉 token 数。</a:t>
            </a:r>
          </a:p>
        </p:txBody>
      </p:sp>
    </p:spTree>
  </p:cSld>
  <p:clrMapOvr>
    <a:masterClrMapping/>
  </p:clrMapOvr>
</p:sld>
</file>

<file path=ppt/slides/slide6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托管 vs 自建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上云两条路：调 API，还是自己部署开源 VLM？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托管 API（Bedrock / Vertex / 千问等）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8638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开箱即用，无需运维 GPU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总能用到最新最强的旗舰模型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按调用付费，起步成本低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适合：快速上线、量不极端、要最强能力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代价：数据出域顾虑、单价随量增长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6236207" y="1554480"/>
            <a:ext cx="5394959" cy="3017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Rounded Rectangle 9"/>
          <p:cNvSpPr/>
          <p:nvPr/>
        </p:nvSpPr>
        <p:spPr>
          <a:xfrm>
            <a:off x="6236207" y="155448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自建（vLLM 部署开源 VLM）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455664" y="2194560"/>
            <a:ext cx="4974336" cy="22402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Qwen3-VL / InternVL3.5 等开源权重自部署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数据不出域，满足合规 / 私有化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量大时单位成本可显著更低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适合：数据敏感、超大调用量、要可控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代价：要 GPU、要运维、能力可能略逊旗舰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498348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09320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典型建议：先用托管 API 快速验证价值；跑通、量上来、且数据敏感，再评估自建开源 VLM 降本。</a:t>
            </a:r>
          </a:p>
        </p:txBody>
      </p:sp>
    </p:spTree>
  </p:cSld>
  <p:clrMapOvr>
    <a:masterClrMapping/>
  </p:clrMapOvr>
</p:sld>
</file>

<file path=ppt/slides/slide6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6 章 · 选型与动手做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把第 6.2 的两段代码跑通，分别用 URL 和 base64 传同一张图，观察返回与耗时差异。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同一张图分别用「低 / 高」两档分辨率调用，记录 token 数与费用，算出「每千张图」的成本——做成一张报价参考表。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在 GPU 云上用 vLLM 起一个开源 VLM（如 Qwen2.5-VL），跑同样的图，对比托管 API 的成本 / 延迟 / 效果。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第 2、3 题产出的「成本表」和「托管 vs 自建对比」，是你对客答疑和写方案时最硬的两块数据。</a:t>
            </a:r>
          </a:p>
        </p:txBody>
      </p:sp>
    </p:spTree>
  </p:cSld>
  <p:clrMapOvr>
    <a:masterClrMapping/>
  </p:clrMapOvr>
</p:sld>
</file>

<file path=ppt/slides/slide6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选型与动手做 · 深潜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多模态请求的五层输入合同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获取 + 变换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资产、格式、哈希、授权；缩放/裁剪/抽帧/切段——任何压缩与采样都要记录，这决定模型后面「看到什么」。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编码对齐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视觉/音频编码器、embedding、投影层、token 数——分辨率与帧率的选择，在这一层变成成本。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推理 + 定位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提示词、上下文、工具、输出；页码/框选区域/时间戳/版本——答案要能回到原始页、区域、帧或时间段。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C064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铁律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原始资产、衍生表示、定位信息三者同存——只留中间文本，审计与引用都断链（与 RAG 的四层证明页同款道理）。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怎么讲：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客户问「多模态为什么又贵又难管」——五层每层都有账（质量/成本/权限）：本章的成本三变量加这页的合同，一起答。</a:t>
            </a:r>
          </a:p>
        </p:txBody>
      </p:sp>
    </p:spTree>
  </p:cSld>
  <p:clrMapOvr>
    <a:masterClrMapping/>
  </p:clrMapOvr>
</p:sld>
</file>

<file path=ppt/slides/slide6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传一张图到底要多少钱？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图被折算成视觉 token，和分辨率强相关：低分辨率几十~百来 token，高分辨率 / 大图上千。正确报法是按客户的分辨率和图量折算到「每天多少钱」。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多模态为什么比纯文本慢？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视觉 token 多，prefill 阶段变重、首 token 延迟高；高分辨率和多图 / 视频会进一步拉长序列。降分辨率和缓存是主要优化手段。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该调 API 还是自己部署？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先用托管 API 快速验证；等量大、数据敏感、要降本，再评估用 vLLM 自部署开源 VLM。多数项目从托管起步。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怎么把多模态成本压下来？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三招：降到够用的分辨率、稳定字段走 OCR 不走大模型、结果缓存去重；必要时自建开源 VLM 摊薄单位成本。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6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6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决策三角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成本 / 延迟 / 精度，先问客户哪个最不能妥协。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调用要点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传图有 URL 与 base64 两式；敏感数据别挂公网。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成本之根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图像按视觉 token 计费，分辨率是主变量，把账落到客户的量。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两条路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托管 API 快速起步；量大 / 敏感再上自建开源 VLM。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7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7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生产落地与坑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Production · 成本 / 幻觉 / 评估 / 安全</a:t>
            </a:r>
          </a:p>
        </p:txBody>
      </p:sp>
    </p:spTree>
  </p:cSld>
  <p:clrMapOvr>
    <a:masterClrMapping/>
  </p:clrMapOvr>
</p:sld>
</file>

<file path=ppt/slides/slide7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生产落地与坑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算清生产上多模态的成本膨胀点，避免上线后账单爆炸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识别多模态特有的失效：幻觉、空间关系错误、计数错误，并设好兜底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掌握多模态怎么评估（MMMU / OCRBench / DocVQA / Video-MME），接住「你怎么证明它准」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550" b="0" i="0">
                <a:solidFill>
                  <a:srgbClr val="1A2733"/>
                </a:solidFill>
                <a:latin typeface="Calibri"/>
              </a:rPr>
              <a:t>认识跨模态提示注入（图里藏指令）这类新型安全风险，给方案配防线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成本膨胀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上线后账单为什么会爆？盯住视觉 token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463040"/>
            <a:ext cx="11064240" cy="33832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主因：视觉 token 随分辨率暴涨。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一张高清图 / 一份多页 PDF，token 可能是纯文本问题的几十上百倍。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多图、视频抽帧叠加。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一次传 5 张图或一段视频，成本线性甚至超线性上升。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重复调用无缓存。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同一张图被反复问、同一份文档每次重算，钱白花。</a:t>
            </a:r>
          </a:p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700"/>
              </a:spcAft>
            </a:pPr>
            <a:r>
              <a:rPr sz="1400" b="1" i="0">
                <a:solidFill>
                  <a:srgbClr val="0E4D64"/>
                </a:solidFill>
                <a:latin typeface="Calibri"/>
              </a:rPr>
              <a:t>• </a:t>
            </a:r>
            <a:r>
              <a:rPr sz="1400" b="1" i="0">
                <a:solidFill>
                  <a:srgbClr val="0B2540"/>
                </a:solidFill>
                <a:latin typeface="Calibri"/>
              </a:rPr>
              <a:t>prompt 里塞满示例图。</a:t>
            </a:r>
            <a:r>
              <a:rPr sz="1400" b="0" i="0">
                <a:solidFill>
                  <a:srgbClr val="1A2733"/>
                </a:solidFill>
                <a:latin typeface="Calibri"/>
              </a:rPr>
              <a:t>few-shot 图例很占 token，收益不一定值。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4846320"/>
            <a:ext cx="11064240" cy="82296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768096" y="4956048"/>
            <a:ext cx="10661904" cy="64008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划重点：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上线前必做：用真实图量和分辨率做一次「token 压测 + 月度成本估算」，别等账单来了才发现分辨率设高了。</a:t>
            </a:r>
          </a:p>
        </p:txBody>
      </p:sp>
    </p:spTree>
  </p:cSld>
  <p:clrMapOvr>
    <a:masterClrMapping/>
  </p:clrMapOvr>
</p:sld>
</file>

<file path=ppt/slides/slide7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失效模式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多模态特有的翻车：不只是「答错」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失效类型</a:t>
            </a:r>
          </a:p>
        </p:txBody>
      </p:sp>
      <p:sp>
        <p:nvSpPr>
          <p:cNvPr id="7" name="Rectangle 6"/>
          <p:cNvSpPr/>
          <p:nvPr/>
        </p:nvSpPr>
        <p:spPr>
          <a:xfrm>
            <a:off x="2761488" y="1508760"/>
            <a:ext cx="42062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表现</a:t>
            </a:r>
          </a:p>
        </p:txBody>
      </p:sp>
      <p:sp>
        <p:nvSpPr>
          <p:cNvPr id="8" name="Rectangle 7"/>
          <p:cNvSpPr/>
          <p:nvPr/>
        </p:nvSpPr>
        <p:spPr>
          <a:xfrm>
            <a:off x="6967727" y="1508760"/>
            <a:ext cx="4663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兜底手段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视觉幻觉</a:t>
            </a:r>
          </a:p>
        </p:txBody>
      </p:sp>
      <p:sp>
        <p:nvSpPr>
          <p:cNvPr id="10" name="Rectangle 9"/>
          <p:cNvSpPr/>
          <p:nvPr/>
        </p:nvSpPr>
        <p:spPr>
          <a:xfrm>
            <a:off x="2761488" y="1965960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描述出图里根本没有的东西</a:t>
            </a:r>
          </a:p>
        </p:txBody>
      </p:sp>
      <p:sp>
        <p:nvSpPr>
          <p:cNvPr id="11" name="Rectangle 10"/>
          <p:cNvSpPr/>
          <p:nvPr/>
        </p:nvSpPr>
        <p:spPr>
          <a:xfrm>
            <a:off x="6967727" y="1965960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关键字段要模型给「依据 / 定位」，交叉校验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32888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空间关系错</a:t>
            </a:r>
          </a:p>
        </p:txBody>
      </p:sp>
      <p:sp>
        <p:nvSpPr>
          <p:cNvPr id="13" name="Rectangle 12"/>
          <p:cNvSpPr/>
          <p:nvPr/>
        </p:nvSpPr>
        <p:spPr>
          <a:xfrm>
            <a:off x="2761488" y="2532888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左右 / 上下 / 前后判断反</a:t>
            </a:r>
          </a:p>
        </p:txBody>
      </p:sp>
      <p:sp>
        <p:nvSpPr>
          <p:cNvPr id="14" name="Rectangle 13"/>
          <p:cNvSpPr/>
          <p:nvPr/>
        </p:nvSpPr>
        <p:spPr>
          <a:xfrm>
            <a:off x="6967727" y="2532888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改问法、避免依赖精确空间判断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099816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计数不准</a:t>
            </a:r>
          </a:p>
        </p:txBody>
      </p:sp>
      <p:sp>
        <p:nvSpPr>
          <p:cNvPr id="16" name="Rectangle 15"/>
          <p:cNvSpPr/>
          <p:nvPr/>
        </p:nvSpPr>
        <p:spPr>
          <a:xfrm>
            <a:off x="2761488" y="3099816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数错人数 / 物体数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6967727" y="3099816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用专用检测模型做计数，别靠 VLM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666744"/>
            <a:ext cx="219456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OCR 漏读错读</a:t>
            </a:r>
          </a:p>
        </p:txBody>
      </p:sp>
      <p:sp>
        <p:nvSpPr>
          <p:cNvPr id="19" name="Rectangle 18"/>
          <p:cNvSpPr/>
          <p:nvPr/>
        </p:nvSpPr>
        <p:spPr>
          <a:xfrm>
            <a:off x="2761488" y="3666744"/>
            <a:ext cx="42062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小字 / 密集表格读错</a:t>
            </a:r>
          </a:p>
        </p:txBody>
      </p:sp>
      <p:sp>
        <p:nvSpPr>
          <p:cNvPr id="20" name="Rectangle 19"/>
          <p:cNvSpPr/>
          <p:nvPr/>
        </p:nvSpPr>
        <p:spPr>
          <a:xfrm>
            <a:off x="6967727" y="3666744"/>
            <a:ext cx="4663440" cy="566928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提分辨率、关键数字二次核对</a:t>
            </a:r>
          </a:p>
        </p:txBody>
      </p:sp>
      <p:sp>
        <p:nvSpPr>
          <p:cNvPr id="21" name="Rectangle 20"/>
          <p:cNvSpPr/>
          <p:nvPr/>
        </p:nvSpPr>
        <p:spPr>
          <a:xfrm>
            <a:off x="566928" y="4233672"/>
            <a:ext cx="219456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1">
                <a:solidFill>
                  <a:srgbClr val="1A2733"/>
                </a:solidFill>
                <a:latin typeface="Calibri"/>
              </a:rPr>
              <a:t>长内容衰减</a:t>
            </a:r>
          </a:p>
        </p:txBody>
      </p:sp>
      <p:sp>
        <p:nvSpPr>
          <p:cNvPr id="22" name="Rectangle 21"/>
          <p:cNvSpPr/>
          <p:nvPr/>
        </p:nvSpPr>
        <p:spPr>
          <a:xfrm>
            <a:off x="2761488" y="4233672"/>
            <a:ext cx="42062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长文档 / 长视频后段被忽略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6967727" y="4233672"/>
            <a:ext cx="4663440" cy="566928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分段处理 + 汇总，别一把梭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525780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68096" y="536752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对客诚实话术：多模态「大部分场景很强，但有已知短板」——把短板和兜底一起讲，比吹「无所不能」更能建立信任。</a:t>
            </a:r>
          </a:p>
        </p:txBody>
      </p:sp>
    </p:spTree>
  </p:cSld>
  <p:clrMapOvr>
    <a:masterClrMapping/>
  </p:clrMapOvr>
</p:sld>
</file>

<file path=ppt/slides/slide7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怎么评估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「你怎么证明它准？」——多模态评估四把尺子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150876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基准 / 方法</a:t>
            </a:r>
          </a:p>
        </p:txBody>
      </p:sp>
      <p:sp>
        <p:nvSpPr>
          <p:cNvPr id="7" name="Rectangle 6"/>
          <p:cNvSpPr/>
          <p:nvPr/>
        </p:nvSpPr>
        <p:spPr>
          <a:xfrm>
            <a:off x="3310128" y="1508760"/>
            <a:ext cx="45720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测什么</a:t>
            </a:r>
          </a:p>
        </p:txBody>
      </p:sp>
      <p:sp>
        <p:nvSpPr>
          <p:cNvPr id="8" name="Rectangle 7"/>
          <p:cNvSpPr/>
          <p:nvPr/>
        </p:nvSpPr>
        <p:spPr>
          <a:xfrm>
            <a:off x="7882128" y="150876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场景</a:t>
            </a:r>
          </a:p>
        </p:txBody>
      </p:sp>
      <p:sp>
        <p:nvSpPr>
          <p:cNvPr id="9" name="Rectangle 8"/>
          <p:cNvSpPr/>
          <p:nvPr/>
        </p:nvSpPr>
        <p:spPr>
          <a:xfrm>
            <a:off x="566928" y="1965960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MMMU</a:t>
            </a:r>
          </a:p>
        </p:txBody>
      </p:sp>
      <p:sp>
        <p:nvSpPr>
          <p:cNvPr id="10" name="Rectangle 9"/>
          <p:cNvSpPr/>
          <p:nvPr/>
        </p:nvSpPr>
        <p:spPr>
          <a:xfrm>
            <a:off x="3310128" y="1965960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大学级多学科图文理解与推理</a:t>
            </a:r>
          </a:p>
        </p:txBody>
      </p:sp>
      <p:sp>
        <p:nvSpPr>
          <p:cNvPr id="11" name="Rectangle 10"/>
          <p:cNvSpPr/>
          <p:nvPr/>
        </p:nvSpPr>
        <p:spPr>
          <a:xfrm>
            <a:off x="7882128" y="1965960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综合理解能力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569464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OCRBench / DocVQA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569464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文字识别 / 文档问答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882128" y="2569464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文档 / OCR 场景验收</a:t>
            </a:r>
          </a:p>
        </p:txBody>
      </p:sp>
      <p:sp>
        <p:nvSpPr>
          <p:cNvPr id="15" name="Rectangle 14"/>
          <p:cNvSpPr/>
          <p:nvPr/>
        </p:nvSpPr>
        <p:spPr>
          <a:xfrm>
            <a:off x="566928" y="3172968"/>
            <a:ext cx="27432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Video-MME 等</a:t>
            </a:r>
          </a:p>
        </p:txBody>
      </p:sp>
      <p:sp>
        <p:nvSpPr>
          <p:cNvPr id="16" name="Rectangle 15"/>
          <p:cNvSpPr/>
          <p:nvPr/>
        </p:nvSpPr>
        <p:spPr>
          <a:xfrm>
            <a:off x="3310128" y="3172968"/>
            <a:ext cx="4572000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视频理解与时序</a:t>
            </a:r>
          </a:p>
        </p:txBody>
      </p:sp>
      <p:sp>
        <p:nvSpPr>
          <p:cNvPr id="17" name="Rectangle 16"/>
          <p:cNvSpPr/>
          <p:nvPr/>
        </p:nvSpPr>
        <p:spPr>
          <a:xfrm>
            <a:off x="7882128" y="3172968"/>
            <a:ext cx="3749039" cy="603504"/>
          </a:xfrm>
          <a:prstGeom prst="rect">
            <a:avLst/>
          </a:prstGeom>
          <a:solidFill>
            <a:srgbClr val="FFFFFF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视频场景验收</a:t>
            </a:r>
          </a:p>
        </p:txBody>
      </p:sp>
      <p:sp>
        <p:nvSpPr>
          <p:cNvPr id="18" name="Rectangle 17"/>
          <p:cNvSpPr/>
          <p:nvPr/>
        </p:nvSpPr>
        <p:spPr>
          <a:xfrm>
            <a:off x="566928" y="3776472"/>
            <a:ext cx="27432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1">
                <a:solidFill>
                  <a:srgbClr val="1A2733"/>
                </a:solidFill>
                <a:latin typeface="Calibri"/>
              </a:rPr>
              <a:t>自建业务评估集</a:t>
            </a:r>
          </a:p>
        </p:txBody>
      </p:sp>
      <p:sp>
        <p:nvSpPr>
          <p:cNvPr id="19" name="Rectangle 18"/>
          <p:cNvSpPr/>
          <p:nvPr/>
        </p:nvSpPr>
        <p:spPr>
          <a:xfrm>
            <a:off x="3310128" y="3776472"/>
            <a:ext cx="4572000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你自己的真实数据 + 标注答案</a:t>
            </a:r>
          </a:p>
        </p:txBody>
      </p:sp>
      <p:sp>
        <p:nvSpPr>
          <p:cNvPr id="20" name="Rectangle 19"/>
          <p:cNvSpPr/>
          <p:nvPr/>
        </p:nvSpPr>
        <p:spPr>
          <a:xfrm>
            <a:off x="7882128" y="3776472"/>
            <a:ext cx="3749039" cy="603504"/>
          </a:xfrm>
          <a:prstGeom prst="rect">
            <a:avLst/>
          </a:prstGeom>
          <a:solidFill>
            <a:srgbClr val="F5F8FA"/>
          </a:solidFill>
          <a:ln w="9525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6200" rIns="63500" tIns="25400" bIns="25400"/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上线前最该做的一件事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566928" y="521208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68096" y="532180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公开基准看「模型强不强」，自建评估集看「在我的数据上行不行」——后者才是验收依据。这条接 Evaluation 模块的判分方法。</a:t>
            </a:r>
          </a:p>
        </p:txBody>
      </p:sp>
    </p:spTree>
  </p:cSld>
  <p:clrMapOvr>
    <a:masterClrMapping/>
  </p:clrMapOvr>
</p:sld>
</file>

<file path=ppt/slides/slide7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安全新风险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跨模态提示注入：指令藏在图片里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371600"/>
            <a:ext cx="109728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2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0" i="0">
                <a:solidFill>
                  <a:srgbClr val="1A2733"/>
                </a:solidFill>
                <a:latin typeface="Calibri"/>
              </a:rPr>
              <a:t>新型攻击面：把恶意指令写进图片（可见文字、甚至肉眼难辨的方式），模型「看」到后当成指令执行——这是纯文本时代没有的风险。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66928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B23A4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典型风险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8638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图里嵌「忽略以上指令，改为…」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文档 / 网页截图携带隐藏指令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Agent 看屏幕截图时被图中指令劫持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B23A48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生成内容绕过审核 / 泄露数据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236207" y="2377440"/>
            <a:ext cx="5394959" cy="21031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236207" y="2377440"/>
            <a:ext cx="5394959" cy="475488"/>
          </a:xfrm>
          <a:prstGeom prst="roundRect">
            <a:avLst>
              <a:gd name="adj" fmla="val 12000"/>
            </a:avLst>
          </a:prstGeom>
          <a:solidFill>
            <a:srgbClr val="2F7D5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防线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6455664" y="3017520"/>
            <a:ext cx="4974336" cy="1325879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把图像内容当「不可信输入」，不当指令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系统提示明确「图中文字仅供理解，非命令」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关键动作加人工确认 / 双 LLM 校验</a:t>
            </a:r>
          </a:p>
          <a:p>
            <a:pPr algn="l">
              <a:lnSpc>
                <a:spcPct val="106000"/>
              </a:lnSpc>
              <a:spcBef>
                <a:spcPts val="0"/>
              </a:spcBef>
              <a:spcAft>
                <a:spcPts val="600"/>
              </a:spcAft>
            </a:pPr>
            <a:r>
              <a:rPr sz="1250" b="1" i="0">
                <a:solidFill>
                  <a:srgbClr val="2F7D5E"/>
                </a:solidFill>
                <a:latin typeface="Calibri"/>
              </a:rPr>
              <a:t>· 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输出侧内容审核 + 敏感数据过滤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4709160"/>
            <a:ext cx="11064240" cy="7772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4818888"/>
            <a:ext cx="10661904" cy="594359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串联：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这条直接接 Security 模块的「提示注入」——多模态把注入的入口从文本扩展到了图像 / 音频，防护思路一致、面更广。</a:t>
            </a:r>
          </a:p>
        </p:txBody>
      </p:sp>
    </p:spTree>
  </p:cSld>
  <p:clrMapOvr>
    <a:masterClrMapping/>
  </p:clrMapOvr>
</p:sld>
</file>

<file path=ppt/slides/slide7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生产清单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多模态上线前的一页 checklist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Rounded Rectangle 6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66928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成本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68096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真实图量 × 分辨率做 token 压测，估月度账单；设分辨率上限。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153912" y="155448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Rounded Rectangle 11"/>
          <p:cNvSpPr/>
          <p:nvPr/>
        </p:nvSpPr>
        <p:spPr>
          <a:xfrm>
            <a:off x="6153912" y="155448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质量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55080" y="215798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建自己的评估集；关键字段配二次校验 / 人审兜底。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Rounded Rectangle 15"/>
          <p:cNvSpPr/>
          <p:nvPr/>
        </p:nvSpPr>
        <p:spPr>
          <a:xfrm>
            <a:off x="566928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68096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图像 / 文档当不可信输入；防跨模态注入；输出审核 + 水印。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153912" y="3429000"/>
            <a:ext cx="5486400" cy="169164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Rounded Rectangle 19"/>
          <p:cNvSpPr/>
          <p:nvPr/>
        </p:nvSpPr>
        <p:spPr>
          <a:xfrm>
            <a:off x="6153912" y="3429000"/>
            <a:ext cx="5486400" cy="457200"/>
          </a:xfrm>
          <a:prstGeom prst="roundRect">
            <a:avLst>
              <a:gd name="adj" fmla="val 12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架构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355080" y="4032504"/>
            <a:ext cx="5084064" cy="9601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500"/>
              </a:spcAft>
            </a:pPr>
            <a:r>
              <a:rPr sz="1250" b="0" i="0">
                <a:solidFill>
                  <a:srgbClr val="1A2733"/>
                </a:solidFill>
                <a:latin typeface="Calibri"/>
              </a:rPr>
              <a:t>稳定字段走 OCR、疑难走大模型；缓存 + 批处理；托管 or 自建。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303520"/>
            <a:ext cx="11064240" cy="7315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768096" y="5413248"/>
            <a:ext cx="10661904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C0642A"/>
                </a:solidFill>
                <a:latin typeface="Calibri"/>
              </a:rPr>
              <a:t>怎么落地：</a:t>
            </a:r>
            <a:r>
              <a:rPr sz="1250" b="0" i="0">
                <a:solidFill>
                  <a:srgbClr val="1A2733"/>
                </a:solidFill>
                <a:latin typeface="Calibri"/>
              </a:rPr>
              <a:t>上云对照：成本→托管 API / 自建 GPU；质量→评估服务 + 人审工作流；安全→内容审核 + 水印服务；架构→OCR 服务 + 向量库 + 大模型编排。</a:t>
            </a:r>
          </a:p>
        </p:txBody>
      </p:sp>
    </p:spTree>
  </p:cSld>
  <p:clrMapOvr>
    <a:masterClrMapping/>
  </p:clrMapOvr>
</p:sld>
</file>

<file path=ppt/slides/slide7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700" b="1" i="0">
                <a:solidFill>
                  <a:srgbClr val="FFFFFF"/>
                </a:solidFill>
                <a:latin typeface="Cambria"/>
              </a:rPr>
              <a:t>第 7 章 · 生产落地与坑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>
              <a:gd name="adj" fmla="val 5000"/>
            </a:avLst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用真实图量做一次 token 与月度成本估算，找出「分辨率设多高最划算」的拐点。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构造一张「图里藏指令」的测试图，验证你的系统会不会被跨模态注入劫持，并加上防线再测一次。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8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1" i="0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 i="0">
                <a:solidFill>
                  <a:srgbClr val="EAF3F5"/>
                </a:solidFill>
                <a:latin typeface="Calibri"/>
              </a:rPr>
              <a:t>为你的场景建一个 20~50 条的小评估集（图 + 标准答案），给候选模型打分，作为选型和验收依据。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>
              <a:gd name="adj" fmla="val 6000"/>
            </a:avLst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 i="0">
                <a:solidFill>
                  <a:srgbClr val="EAF3F5"/>
                </a:solidFill>
                <a:latin typeface="Calibri"/>
              </a:rPr>
              <a:t>这三件事——成本压测、注入红队、自建评估集——是把 demo 变成可上线系统的最小必修课。</a:t>
            </a:r>
          </a:p>
        </p:txBody>
      </p:sp>
    </p:spTree>
  </p:cSld>
  <p:clrMapOvr>
    <a:masterClrMapping/>
  </p:clrMapOvr>
</p:sld>
</file>

<file path=ppt/slides/slide7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2800" b="1" i="0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上线后成本会不会失控？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2025395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风险主要在视觉 token：分辨率高、多图 / 视频会让 token 暴涨。上线前用真实图量做压测、设分辨率上限、加缓存，就能控住。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29484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你怎么证明模型在我的数据上准？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82112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公开基准（MMMU / OCRBench）看综合实力，但验收要靠自建评估集——用你的真实数据 + 标准答案打分，这才是依据。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86200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多模态有什么新的安全风险？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338828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跨模态提示注入：恶意指令藏在图片 / 文档里，模型看到后可能当命令执行。要把图像当不可信输入，加系统提示约束和人工确认。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42916"/>
            <a:ext cx="1106424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 i="0">
                <a:solidFill>
                  <a:srgbClr val="0B2540"/>
                </a:solidFill>
                <a:latin typeface="Calibri"/>
              </a:rPr>
              <a:t>模型会看错、数错怎么办？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95544"/>
            <a:ext cx="11064240" cy="10058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1" i="0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 i="0">
                <a:solidFill>
                  <a:srgbClr val="1A2733"/>
                </a:solidFill>
                <a:latin typeface="Calibri"/>
              </a:rPr>
              <a:t>空间关系、计数、小字是已知短板。关键场景配二次校验、专用检测模型和人审兜底，别让 VLM 单点决定。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7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7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Oval 4"/>
          <p:cNvSpPr/>
          <p:nvPr/>
        </p:nvSpPr>
        <p:spPr>
          <a:xfrm>
            <a:off x="777240" y="2002536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成本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视觉 token 是账单之根，上线前压测、设分辨率上限、加缓存。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Oval 8"/>
          <p:cNvSpPr/>
          <p:nvPr/>
        </p:nvSpPr>
        <p:spPr>
          <a:xfrm>
            <a:off x="777240" y="2898648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质量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已知短板（幻觉 / 空间 / 计数）配兜底；自建评估集做验收。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Oval 12"/>
          <p:cNvSpPr/>
          <p:nvPr/>
        </p:nvSpPr>
        <p:spPr>
          <a:xfrm>
            <a:off x="777240" y="3794759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跨模态注入是新入口，图像当不可信输入 + 输出审核 + 水印。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Oval 16"/>
          <p:cNvSpPr/>
          <p:nvPr/>
        </p:nvSpPr>
        <p:spPr>
          <a:xfrm>
            <a:off x="777240" y="4690872"/>
            <a:ext cx="256032" cy="256032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450" b="1" i="0">
                <a:solidFill>
                  <a:srgbClr val="0B2540"/>
                </a:solidFill>
                <a:latin typeface="Calibri"/>
              </a:rPr>
              <a:t>串联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1A2733"/>
                </a:solidFill>
                <a:latin typeface="Calibri"/>
              </a:rPr>
              <a:t>评估接 Evaluation 模块，安全接 Security 模块，成本接第 6 章。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生产落地与坑</a:t>
            </a:r>
          </a:p>
        </p:txBody>
      </p:sp>
    </p:spTree>
  </p:cSld>
  <p:clrMapOvr>
    <a:masterClrMapping/>
  </p:clrMapOvr>
</p:sld>
</file>

<file path=ppt/slides/slide8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8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400" b="1">
                <a:solidFill>
                  <a:srgbClr val="FFFFFF"/>
                </a:solidFill>
                <a:latin typeface="Cambria"/>
              </a:rPr>
              <a:t>语音与实时交互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800" b="0">
                <a:solidFill>
                  <a:srgbClr val="D6E1E8"/>
                </a:solidFill>
                <a:latin typeface="Cambria"/>
              </a:rPr>
              <a:t>Voice &amp; Realtime · 从「能听会说」到「像人接话」</a:t>
            </a:r>
          </a:p>
        </p:txBody>
      </p:sp>
    </p:spTree>
  </p:cSld>
  <p:clrMapOvr>
    <a:masterClrMapping/>
  </p:clrMapOvr>
</p:sld>
</file>

<file path=ppt/slides/slide8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语音与实时交互 · 学习目标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学完这一章，你能讲清楚</a:t>
            </a:r>
          </a:p>
        </p:txBody>
      </p:sp>
      <p:sp>
        <p:nvSpPr>
          <p:cNvPr id="4" name="Oval 3"/>
          <p:cNvSpPr/>
          <p:nvPr/>
        </p:nvSpPr>
        <p:spPr>
          <a:xfrm>
            <a:off x="640080" y="1783080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234440" y="1764792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用「对话空隙 300–500 毫秒」这个生理阈值，向客户解释为什么语音是「实时系统」问题，而不是「接个 ASR 就完了」</a:t>
            </a:r>
          </a:p>
        </p:txBody>
      </p:sp>
      <p:sp>
        <p:nvSpPr>
          <p:cNvPr id="6" name="Oval 5"/>
          <p:cNvSpPr/>
          <p:nvPr/>
        </p:nvSpPr>
        <p:spPr>
          <a:xfrm>
            <a:off x="640080" y="2624328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1234440" y="2606040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画出级联管线（Cascaded Pipeline）ASR→LLM→TTS 的完整时延拆帐，指出预算花在哪一段、第一杠杆是什么</a:t>
            </a:r>
          </a:p>
        </p:txBody>
      </p:sp>
      <p:sp>
        <p:nvSpPr>
          <p:cNvPr id="8" name="Oval 7"/>
          <p:cNvSpPr/>
          <p:nvPr/>
        </p:nvSpPr>
        <p:spPr>
          <a:xfrm>
            <a:off x="640080" y="3465576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1234440" y="3447288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讲清端到端语音模型（Speech-to-Speech）快在哪、黑在哪，以及 2026 年企业生产为什么仍以级联为主</a:t>
            </a:r>
          </a:p>
        </p:txBody>
      </p:sp>
      <p:sp>
        <p:nvSpPr>
          <p:cNvPr id="10" name="Oval 9"/>
          <p:cNvSpPr/>
          <p:nvPr/>
        </p:nvSpPr>
        <p:spPr>
          <a:xfrm>
            <a:off x="640080" y="4306824"/>
            <a:ext cx="384048" cy="384048"/>
          </a:xfrm>
          <a:prstGeom prst="ellipse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234440" y="4288536"/>
            <a:ext cx="102412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0">
                <a:solidFill>
                  <a:srgbClr val="1A2733"/>
                </a:solidFill>
                <a:latin typeface="Calibri"/>
              </a:rPr>
              <a:t>报出一分钟语音对话的成本量级，并说清打断（Barge-in）与全双工（Full-duplex）的工程实现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5257800"/>
            <a:ext cx="11064240" cy="6858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768096" y="5349240"/>
            <a:ext cx="10661904" cy="50292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1">
                <a:solidFill>
                  <a:srgbClr val="0E4D64"/>
                </a:solidFill>
                <a:latin typeface="Calibri"/>
              </a:rPr>
              <a:t>承上启下：</a:t>
            </a:r>
            <a:r>
              <a:rPr sz="1200" b="0">
                <a:solidFill>
                  <a:srgbClr val="1A2733"/>
                </a:solidFill>
                <a:latin typeface="Calibri"/>
              </a:rPr>
              <a:t>第 4 章讲「听懂」、第 5 章讲「会说」——能力已就位；本章讲怎么把能力串成 300 毫秒内接话、可被打断的实时链路。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00" b="1">
                <a:solidFill>
                  <a:srgbClr val="128199"/>
                </a:solidFill>
                <a:latin typeface="Calibri"/>
              </a:rPr>
              <a:t>第 8 章 · 延迟预算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3000" b="1">
                <a:solidFill>
                  <a:srgbClr val="0B2540"/>
                </a:solidFill>
                <a:latin typeface="Cambria"/>
              </a:rPr>
              <a:t>对话的物理学：半秒沉默就是「异常」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444752"/>
            <a:ext cx="11064240" cy="45720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350" b="0">
                <a:solidFill>
                  <a:srgbClr val="1A2733"/>
                </a:solidFill>
                <a:latin typeface="Calibri"/>
              </a:rPr>
              <a:t>人对「对话空隙」极其敏感——语音产品的第一 KPI 不是准确率，是响应延迟（Latency）。四条参考线：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731520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300–500ms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人类换话的自然空隙，超过就开始被察觉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3374136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3538728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&lt;800ms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38728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端到端标杆线（gpt-realtime-2.1 家族量级）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6181344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345936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&lt;1.5s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6345936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级联管线生产目标（P50 口径）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988551" y="2103120"/>
            <a:ext cx="2633472" cy="17373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153143" y="2304288"/>
            <a:ext cx="233172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2700" b="1">
                <a:solidFill>
                  <a:srgbClr val="0E4D64"/>
                </a:solidFill>
                <a:latin typeface="Cambria"/>
              </a:rPr>
              <a:t>&gt;1.5s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9153143" y="2999232"/>
            <a:ext cx="233172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100" b="0">
                <a:solidFill>
                  <a:srgbClr val="1A2733"/>
                </a:solidFill>
                <a:latin typeface="Calibri"/>
              </a:rPr>
              <a:t>用户判定「坏了」，开始重复说话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8" y="4206240"/>
            <a:ext cx="11064240" cy="1005840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777240" y="4370832"/>
            <a:ext cx="1065276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1250" b="1">
                <a:solidFill>
                  <a:srgbClr val="0E4D64"/>
                </a:solidFill>
                <a:latin typeface="Calibri"/>
              </a:rPr>
              <a:t>案例：</a:t>
            </a:r>
            <a:r>
              <a:rPr sz="1250" b="0">
                <a:solidFill>
                  <a:srgbClr val="1A2733"/>
                </a:solidFill>
                <a:latin typeface="Calibri"/>
              </a:rPr>
              <a:t>语音客服延迟超过 2 秒时，用户会开始重复问题，ASR 把两遍话拼在一起、语义混串，错误级联放大——延迟不只是体验问题，还是准确率问题。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5669280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打电话 vs 对讲机——你敢在电话里随时插话，因为你知道对方「在线」；延迟一高，对话就退化成「说完请讲」的对讲机模式。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级联管线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级联管线：三段接力的时延拆帐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371600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级联管线（Cascaded Pipeline）</a:t>
            </a:r>
            <a:r>
              <a:rPr sz="1300" b="0">
                <a:solidFill>
                  <a:srgbClr val="1A2733"/>
                </a:solidFill>
                <a:latin typeface="Calibri"/>
              </a:rPr>
              <a:t>：语音转文字、想、文字转语音三段接力。类比接力赛——快不靠三个百米冠军，靠交接棒不停顿。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8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用户说完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VAD（Voice Activity Detection） 判定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2514600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843784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ASR 转写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100–300ms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4791456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120640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LLM 首 token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350–1000ms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068312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7397496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TTS 首音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90–200ms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9345167" y="2176272"/>
            <a:ext cx="347472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200" b="1">
                <a:solidFill>
                  <a:srgbClr val="1CA3B8"/>
                </a:solidFill>
                <a:latin typeface="Calibri"/>
              </a:rPr>
              <a:t>›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9674352" y="1920240"/>
            <a:ext cx="1965960" cy="914400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300" b="1">
                <a:solidFill>
                  <a:srgbClr val="FFFFFF"/>
                </a:solidFill>
                <a:latin typeface="Calibri"/>
              </a:rPr>
              <a:t>用户听到</a:t>
            </a:r>
          </a:p>
          <a:p>
            <a:pPr algn="ctr"/>
            <a:r>
              <a:rPr sz="950" b="0">
                <a:solidFill>
                  <a:srgbClr val="EAF3F5"/>
                </a:solidFill>
                <a:latin typeface="Calibri"/>
              </a:rPr>
              <a:t>+网络 50–200ms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Rounded Rectangle 14"/>
          <p:cNvSpPr/>
          <p:nvPr/>
        </p:nvSpPr>
        <p:spPr>
          <a:xfrm>
            <a:off x="566928" y="3246120"/>
            <a:ext cx="53949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开关一 · 全链路流式（Streaming）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8638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ASR 边听边出字、LLM 边想边吐、TTS 边收边说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首音时延取决于「首 token」，不是「全文生成完」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任何一段等全量输出，延迟立刻爆表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6236208" y="3246120"/>
            <a:ext cx="53949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Rounded Rectangle 17"/>
          <p:cNvSpPr/>
          <p:nvPr/>
        </p:nvSpPr>
        <p:spPr>
          <a:xfrm>
            <a:off x="6236208" y="3246120"/>
            <a:ext cx="53949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开关二 · 瓶颈在 LLM 首 token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455664" y="3867911"/>
            <a:ext cx="4956048" cy="119786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350–1000ms 占大头：模型档位选小、提示词减脂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KV 缓存复用系统提示（见 LLM-Inference 模块）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工具调用最伤延迟——能预取的别现查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级联的真功夫不在挑最好的三个组件，而在把三段「焊」成流水线——衡量口径永远是「首音时延」，不是「说完时延」。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端到端模型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端到端语音模型：2026 四家格局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74320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模型家族</a:t>
            </a:r>
          </a:p>
        </p:txBody>
      </p:sp>
      <p:sp>
        <p:nvSpPr>
          <p:cNvPr id="5" name="Rectangle 4"/>
          <p:cNvSpPr/>
          <p:nvPr/>
        </p:nvSpPr>
        <p:spPr>
          <a:xfrm>
            <a:off x="3310128" y="1554480"/>
            <a:ext cx="3749039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定位与特点</a:t>
            </a:r>
          </a:p>
        </p:txBody>
      </p:sp>
      <p:sp>
        <p:nvSpPr>
          <p:cNvPr id="6" name="Rectangle 5"/>
          <p:cNvSpPr/>
          <p:nvPr/>
        </p:nvSpPr>
        <p:spPr>
          <a:xfrm>
            <a:off x="7059168" y="1554480"/>
            <a:ext cx="237744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关键口径</a:t>
            </a:r>
          </a:p>
        </p:txBody>
      </p:sp>
      <p:sp>
        <p:nvSpPr>
          <p:cNvPr id="7" name="Rectangle 6"/>
          <p:cNvSpPr/>
          <p:nvPr/>
        </p:nvSpPr>
        <p:spPr>
          <a:xfrm>
            <a:off x="9436608" y="1554480"/>
            <a:ext cx="21945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适用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01168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gpt-realtime-2.1 家族（OpenAI）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3310128" y="201168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2026-07-06 换代 2.1 / 2.1-mini；工具调用进音频环路</a:t>
            </a:r>
          </a:p>
        </p:txBody>
      </p:sp>
      <p:sp>
        <p:nvSpPr>
          <p:cNvPr id="10" name="Rectangle 9"/>
          <p:cNvSpPr/>
          <p:nvPr/>
        </p:nvSpPr>
        <p:spPr>
          <a:xfrm>
            <a:off x="7059168" y="201168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128K 上下文；p95 时延再降 25%</a:t>
            </a:r>
          </a:p>
        </p:txBody>
      </p:sp>
      <p:sp>
        <p:nvSpPr>
          <p:cNvPr id="11" name="Rectangle 10"/>
          <p:cNvSpPr/>
          <p:nvPr/>
        </p:nvSpPr>
        <p:spPr>
          <a:xfrm>
            <a:off x="9436608" y="201168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快速上线、Agent 化语音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274320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Gemini Live（Google）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310128" y="274320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3.1 Flash Live（2026-03）；噪声环境与多语言强</a:t>
            </a:r>
          </a:p>
        </p:txBody>
      </p:sp>
      <p:sp>
        <p:nvSpPr>
          <p:cNvPr id="14" name="Rectangle 13"/>
          <p:cNvSpPr/>
          <p:nvPr/>
        </p:nvSpPr>
        <p:spPr>
          <a:xfrm>
            <a:off x="7059168" y="274320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~200ms 首响；200+ 语言</a:t>
            </a:r>
          </a:p>
        </p:txBody>
      </p:sp>
      <p:sp>
        <p:nvSpPr>
          <p:cNvPr id="15" name="Rectangle 14"/>
          <p:cNvSpPr/>
          <p:nvPr/>
        </p:nvSpPr>
        <p:spPr>
          <a:xfrm>
            <a:off x="9436608" y="274320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低延迟、成本敏感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474720"/>
            <a:ext cx="274320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Qwen3-Omni / 3.5-Omni（阿里）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310128" y="3474720"/>
            <a:ext cx="3749039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原生端到端全模态；3-Omni 权重 Apache-2.0 可自部署</a:t>
            </a:r>
          </a:p>
        </p:txBody>
      </p:sp>
      <p:sp>
        <p:nvSpPr>
          <p:cNvPr id="18" name="Rectangle 17"/>
          <p:cNvSpPr/>
          <p:nvPr/>
        </p:nvSpPr>
        <p:spPr>
          <a:xfrm>
            <a:off x="7059168" y="3474720"/>
            <a:ext cx="237744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119 文本 / 19 语音输入语种；流式输出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9436608" y="3474720"/>
            <a:ext cx="2194560" cy="731520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私有化、数据不出域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66928" y="4206240"/>
            <a:ext cx="274320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Moshi（Kyutai，开源）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3310128" y="4206240"/>
            <a:ext cx="3749039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全双工对话先驱，研究导向</a:t>
            </a:r>
          </a:p>
        </p:txBody>
      </p:sp>
      <p:sp>
        <p:nvSpPr>
          <p:cNvPr id="22" name="Rectangle 21"/>
          <p:cNvSpPr/>
          <p:nvPr/>
        </p:nvSpPr>
        <p:spPr>
          <a:xfrm>
            <a:off x="7059168" y="4206240"/>
            <a:ext cx="237744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原生全双工</a:t>
            </a:r>
          </a:p>
        </p:txBody>
      </p:sp>
      <p:sp>
        <p:nvSpPr>
          <p:cNvPr id="23" name="Rectangle 22"/>
          <p:cNvSpPr/>
          <p:nvPr/>
        </p:nvSpPr>
        <p:spPr>
          <a:xfrm>
            <a:off x="9436608" y="4206240"/>
            <a:ext cx="2194560" cy="731520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理解路线、试验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66928" y="5065776"/>
            <a:ext cx="11064240" cy="5029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0B2540"/>
                </a:solidFill>
                <a:latin typeface="Calibri"/>
              </a:rPr>
              <a:t>端到端（Speech-to-Speech）</a:t>
            </a:r>
            <a:r>
              <a:rPr sz="1250" b="0">
                <a:solidFill>
                  <a:srgbClr val="1A2733"/>
                </a:solidFill>
                <a:latin typeface="Calibri"/>
              </a:rPr>
              <a:t>= 声音进、声音出，中间不落文字——语气、笑声、犹豫都保留，自然度是级联给不了的。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端到端把延迟砍约 85%，但中间没有文字可审计——护栏、质检、合规都要重做，这是企业生产仍以级联为主的真正原因。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全双工与打断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会「让话」的机器人：VAD、打断、轮次切换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60020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VAD · 语音活动检测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判断「用户在说话吗」，整条链路的第一道闸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太灵敏：背景音、咳嗽就把 bot 打断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太迟钝：用户说完半天没反应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0E4D64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现代做法是语义 VAD：不光听音量，还判断「话说完了没」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Barge-in · 打断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用户一开口，bot 必须立即闭嘴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三连动作：停 TTS 播放、砍断 LLM 生成、上下文回滚到打断点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5B4B8A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少做任何一件都「穿帮」：要么抢话，要么自说自话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600200"/>
            <a:ext cx="3566160" cy="2926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600200"/>
            <a:ext cx="3566160" cy="475488"/>
          </a:xfrm>
          <a:prstGeom prst="roundRect">
            <a:avLst/>
          </a:prstGeom>
          <a:solidFill>
            <a:srgbClr val="1CA3B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Turn-taking · 轮次切换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221992"/>
            <a:ext cx="3127248" cy="2157984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判断什么时候「轮到我说」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难点：停顿 ≠ 说完（想想报电话号码中间的停顿）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端到端模型从数据里原生学会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50" b="1">
                <a:solidFill>
                  <a:srgbClr val="1CA3B8"/>
                </a:solidFill>
                <a:latin typeface="Calibri"/>
              </a:rPr>
              <a:t>· </a:t>
            </a:r>
            <a:r>
              <a:rPr sz="1150" b="0">
                <a:solidFill>
                  <a:srgbClr val="1A2733"/>
                </a:solidFill>
                <a:latin typeface="Calibri"/>
              </a:rPr>
              <a:t>级联要靠 VAD + 超时 + 语义判断拼出来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类比：</a:t>
            </a:r>
            <a:r>
              <a:rPr sz="1250" b="0">
                <a:solidFill>
                  <a:srgbClr val="1A2733"/>
                </a:solidFill>
                <a:latin typeface="Calibri"/>
              </a:rPr>
              <a:t>优秀的电话客服在你插话时会立刻停下。机器人要做到这点，需要一条贯穿 ASR-LLM-TTS 的「急停线」，而不是一个功能开关。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传输与框架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把声音送到位：WebRTC、电话线与两大框架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ounded Rectangle 4"/>
          <p:cNvSpPr/>
          <p:nvPr/>
        </p:nvSpPr>
        <p:spPr>
          <a:xfrm>
            <a:off x="566928" y="1554480"/>
            <a:ext cx="3566160" cy="475488"/>
          </a:xfrm>
          <a:prstGeom prst="roundRect">
            <a:avLst/>
          </a:prstGeom>
          <a:solidFill>
            <a:srgbClr val="51606E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WebSocket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TCP：丢包必重传，卡顿会排队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服务端之间、demo 够用；弱网体验差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431596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4315968" y="1554480"/>
            <a:ext cx="3566160" cy="475488"/>
          </a:xfrm>
          <a:prstGeom prst="round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WebRTC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453542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走 UDP：丢一帧就丢，人耳几乎无感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0E4D64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自带回声消除、抖动缓冲；浏览器 / APP 生产标配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8065008" y="1554480"/>
            <a:ext cx="3566160" cy="178308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Rounded Rectangle 10"/>
          <p:cNvSpPr/>
          <p:nvPr/>
        </p:nvSpPr>
        <p:spPr>
          <a:xfrm>
            <a:off x="8065008" y="1554480"/>
            <a:ext cx="3566160" cy="475488"/>
          </a:xfrm>
          <a:prstGeom prst="roundRect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350" b="1">
                <a:solidFill>
                  <a:srgbClr val="FFFFFF"/>
                </a:solidFill>
                <a:latin typeface="Calibri"/>
              </a:rPr>
              <a:t>电话接入 SIP / PSTN（Public Switched Telephone Network，公共交换电话网）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8284464" y="2176272"/>
            <a:ext cx="3127248" cy="1014983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呼叫中心呼入呼出走 SIP 网关</a:t>
            </a:r>
          </a:p>
          <a:p>
            <a:pPr algn="l">
              <a:lnSpc>
                <a:spcPct val="112000"/>
              </a:lnSpc>
              <a:spcAft>
                <a:spcPts val="400"/>
              </a:spcAft>
            </a:pPr>
            <a:r>
              <a:rPr sz="1100" b="1">
                <a:solidFill>
                  <a:srgbClr val="5B4B8A"/>
                </a:solidFill>
                <a:latin typeface="Calibri"/>
              </a:rPr>
              <a:t>· </a:t>
            </a:r>
            <a:r>
              <a:rPr sz="1100" b="0">
                <a:solidFill>
                  <a:srgbClr val="1A2733"/>
                </a:solidFill>
                <a:latin typeface="Calibri"/>
              </a:rPr>
              <a:t>8kHz 窄带音质，ASR 要选电话调优档</a:t>
            </a:r>
          </a:p>
        </p:txBody>
      </p:sp>
      <p:sp>
        <p:nvSpPr>
          <p:cNvPr id="13" name="Rectangle 12"/>
          <p:cNvSpPr/>
          <p:nvPr/>
        </p:nvSpPr>
        <p:spPr>
          <a:xfrm>
            <a:off x="566928" y="3520440"/>
            <a:ext cx="237744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框架</a:t>
            </a:r>
          </a:p>
        </p:txBody>
      </p:sp>
      <p:sp>
        <p:nvSpPr>
          <p:cNvPr id="14" name="Rectangle 13"/>
          <p:cNvSpPr/>
          <p:nvPr/>
        </p:nvSpPr>
        <p:spPr>
          <a:xfrm>
            <a:off x="2944368" y="3520440"/>
            <a:ext cx="576072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定位</a:t>
            </a:r>
          </a:p>
        </p:txBody>
      </p:sp>
      <p:sp>
        <p:nvSpPr>
          <p:cNvPr id="15" name="Rectangle 14"/>
          <p:cNvSpPr/>
          <p:nvPr/>
        </p:nvSpPr>
        <p:spPr>
          <a:xfrm>
            <a:off x="8705088" y="3520440"/>
            <a:ext cx="2926080" cy="420624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特点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3941064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Pipecat（Daily）</a:t>
            </a:r>
          </a:p>
        </p:txBody>
      </p:sp>
      <p:sp>
        <p:nvSpPr>
          <p:cNvPr id="17" name="Rectangle 16"/>
          <p:cNvSpPr/>
          <p:nvPr/>
        </p:nvSpPr>
        <p:spPr>
          <a:xfrm>
            <a:off x="2944368" y="3941064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帧管线抽象：STT / LLM / TTS 每段自己拼，传输层无关</a:t>
            </a:r>
          </a:p>
        </p:txBody>
      </p:sp>
      <p:sp>
        <p:nvSpPr>
          <p:cNvPr id="18" name="Rectangle 17"/>
          <p:cNvSpPr/>
          <p:nvPr/>
        </p:nvSpPr>
        <p:spPr>
          <a:xfrm>
            <a:off x="8705088" y="3941064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v1.0（2026-04），控制力最强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66928" y="4434840"/>
            <a:ext cx="237744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LiveKit Agents</a:t>
            </a:r>
          </a:p>
        </p:txBody>
      </p:sp>
      <p:sp>
        <p:nvSpPr>
          <p:cNvPr id="20" name="Rectangle 19"/>
          <p:cNvSpPr/>
          <p:nvPr/>
        </p:nvSpPr>
        <p:spPr>
          <a:xfrm>
            <a:off x="2944368" y="4434840"/>
            <a:ext cx="576072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WebRTC 房间模型：agent 作为「参与者」进房间</a:t>
            </a:r>
          </a:p>
        </p:txBody>
      </p:sp>
      <p:sp>
        <p:nvSpPr>
          <p:cNvPr id="21" name="Rectangle 20"/>
          <p:cNvSpPr/>
          <p:nvPr/>
        </p:nvSpPr>
        <p:spPr>
          <a:xfrm>
            <a:off x="8705088" y="4434840"/>
            <a:ext cx="2926080" cy="493776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多人音视频原生，接口省心</a:t>
            </a:r>
          </a:p>
        </p:txBody>
      </p:sp>
      <p:sp>
        <p:nvSpPr>
          <p:cNvPr id="22" name="Rectangle 21"/>
          <p:cNvSpPr/>
          <p:nvPr/>
        </p:nvSpPr>
        <p:spPr>
          <a:xfrm>
            <a:off x="566928" y="4928616"/>
            <a:ext cx="237744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1">
                <a:solidFill>
                  <a:srgbClr val="0B2540"/>
                </a:solidFill>
                <a:latin typeface="Calibri"/>
              </a:rPr>
              <a:t>Vapi、Retell 等</a:t>
            </a:r>
          </a:p>
        </p:txBody>
      </p:sp>
      <p:sp>
        <p:nvSpPr>
          <p:cNvPr id="23" name="Rectangle 22"/>
          <p:cNvSpPr/>
          <p:nvPr/>
        </p:nvSpPr>
        <p:spPr>
          <a:xfrm>
            <a:off x="2944368" y="4928616"/>
            <a:ext cx="576072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语音 agent 即服务（托管）</a:t>
            </a:r>
          </a:p>
        </p:txBody>
      </p:sp>
      <p:sp>
        <p:nvSpPr>
          <p:cNvPr id="24" name="Rectangle 23"/>
          <p:cNvSpPr/>
          <p:nvPr/>
        </p:nvSpPr>
        <p:spPr>
          <a:xfrm>
            <a:off x="8705088" y="4928616"/>
            <a:ext cx="2926080" cy="493776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00" b="0">
                <a:solidFill>
                  <a:srgbClr val="1A2733"/>
                </a:solidFill>
                <a:latin typeface="Calibri"/>
              </a:rPr>
              <a:t>最快上线，按分钟计费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实测 LiveKit 750–900ms、Pipecat 800–950ms，同一量级——选型看控制权与部署形态：要自己拼每段选 Pipecat，要多人音视频选 LiveKit，要最快上线选托管。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成本账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成本账：语音对话的钱花在哪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76809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$0.01–0.17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6809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级联管线 · 每分钟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6809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组件各自计价：可预测、可逐项优化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4315968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4517136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$32 / $64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4517136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每百万音频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517136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gpt-realtime-2.1 官方价（进 / 出）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65007" y="1600200"/>
            <a:ext cx="3566160" cy="1965960"/>
          </a:xfrm>
          <a:prstGeom prst="round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266175" y="1783080"/>
            <a:ext cx="3154680" cy="5943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E4D64"/>
                </a:solidFill>
                <a:latin typeface="Cambria"/>
              </a:rPr>
              <a:t>$0.4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266175" y="2423160"/>
            <a:ext cx="315468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B2540"/>
                </a:solidFill>
                <a:latin typeface="Calibri"/>
              </a:rPr>
              <a:t>端到端 · 缓存命中输入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8266175" y="2788920"/>
            <a:ext cx="315468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100" b="0">
                <a:solidFill>
                  <a:srgbClr val="51606E"/>
                </a:solidFill>
                <a:latin typeface="Calibri"/>
              </a:rPr>
              <a:t>音频输入缓存价，降本第一杠杆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3977639"/>
            <a:ext cx="11064240" cy="114300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768096" y="4114800"/>
            <a:ext cx="10661904" cy="8686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>
              <a:lnSpc>
                <a:spcPct val="115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降本三板斧：</a:t>
            </a:r>
          </a:p>
          <a:p>
            <a:pPr algn="l">
              <a:lnSpc>
                <a:spcPct val="115000"/>
              </a:lnSpc>
            </a:pPr>
            <a:r>
              <a:rPr sz="1200" b="0">
                <a:solidFill>
                  <a:srgbClr val="1A2733"/>
                </a:solidFill>
                <a:latin typeface="Calibri"/>
              </a:rPr>
              <a:t>① 提示缓存——音频输入缓存价 $0.4 对 $32，差两个量级；② 换档位——2.1-mini 音频输出 $20 对 $64；③ 别为沉默付费——静音检测停采样。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要点：</a:t>
            </a:r>
            <a:r>
              <a:rPr sz="1250" b="0">
                <a:solidFill>
                  <a:srgbClr val="1A2733"/>
                </a:solidFill>
                <a:latin typeface="Calibri"/>
              </a:rPr>
              <a:t>对客仍按「每分钟 × 并发 × 时长」算总账；但厂商只公布 token 单价，分钟成本得拿自己的话务实测折算。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8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上云怎么落地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上云怎么落地：链路环节 → 服务对照</a:t>
            </a:r>
          </a:p>
        </p:txBody>
      </p:sp>
      <p:sp>
        <p:nvSpPr>
          <p:cNvPr id="4" name="Rectangle 3"/>
          <p:cNvSpPr/>
          <p:nvPr/>
        </p:nvSpPr>
        <p:spPr>
          <a:xfrm>
            <a:off x="566928" y="1554480"/>
            <a:ext cx="292608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链路环节</a:t>
            </a:r>
          </a:p>
        </p:txBody>
      </p:sp>
      <p:sp>
        <p:nvSpPr>
          <p:cNvPr id="5" name="Rectangle 4"/>
          <p:cNvSpPr/>
          <p:nvPr/>
        </p:nvSpPr>
        <p:spPr>
          <a:xfrm>
            <a:off x="3493008" y="1554480"/>
            <a:ext cx="8138160" cy="457200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代表服务（主流选项，不绑一家）</a:t>
            </a:r>
          </a:p>
        </p:txBody>
      </p:sp>
      <p:sp>
        <p:nvSpPr>
          <p:cNvPr id="6" name="Rectangle 5"/>
          <p:cNvSpPr/>
          <p:nvPr/>
        </p:nvSpPr>
        <p:spPr>
          <a:xfrm>
            <a:off x="566928" y="2011680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端到端 S2S</a:t>
            </a:r>
          </a:p>
        </p:txBody>
      </p:sp>
      <p:sp>
        <p:nvSpPr>
          <p:cNvPr id="7" name="Rectangle 6"/>
          <p:cNvSpPr/>
          <p:nvPr/>
        </p:nvSpPr>
        <p:spPr>
          <a:xfrm>
            <a:off x="3493008" y="2011680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OpenAI Realtime API · Google Gemini Live API；私有化用 Qwen3-Omni 自部署</a:t>
            </a:r>
          </a:p>
        </p:txBody>
      </p:sp>
      <p:sp>
        <p:nvSpPr>
          <p:cNvPr id="8" name="Rectangle 7"/>
          <p:cNvSpPr/>
          <p:nvPr/>
        </p:nvSpPr>
        <p:spPr>
          <a:xfrm>
            <a:off x="566928" y="2578608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ASR 流式转写</a:t>
            </a:r>
          </a:p>
        </p:txBody>
      </p:sp>
      <p:sp>
        <p:nvSpPr>
          <p:cNvPr id="9" name="Rectangle 8"/>
          <p:cNvSpPr/>
          <p:nvPr/>
        </p:nvSpPr>
        <p:spPr>
          <a:xfrm>
            <a:off x="3493008" y="2578608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各云语音识别（Azure AI Speech、Google STT 等）· Deepgram · Whisper 系自建</a:t>
            </a:r>
          </a:p>
        </p:txBody>
      </p:sp>
      <p:sp>
        <p:nvSpPr>
          <p:cNvPr id="10" name="Rectangle 9"/>
          <p:cNvSpPr/>
          <p:nvPr/>
        </p:nvSpPr>
        <p:spPr>
          <a:xfrm>
            <a:off x="566928" y="3145536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TTS 流式合成</a:t>
            </a:r>
          </a:p>
        </p:txBody>
      </p:sp>
      <p:sp>
        <p:nvSpPr>
          <p:cNvPr id="11" name="Rectangle 10"/>
          <p:cNvSpPr/>
          <p:nvPr/>
        </p:nvSpPr>
        <p:spPr>
          <a:xfrm>
            <a:off x="3493008" y="3145536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各云 TTS · ElevenLabs · Cartesia（低延迟档）</a:t>
            </a:r>
          </a:p>
        </p:txBody>
      </p:sp>
      <p:sp>
        <p:nvSpPr>
          <p:cNvPr id="12" name="Rectangle 11"/>
          <p:cNvSpPr/>
          <p:nvPr/>
        </p:nvSpPr>
        <p:spPr>
          <a:xfrm>
            <a:off x="566928" y="3712464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RTC（Real-Time Communication） 传输</a:t>
            </a:r>
          </a:p>
        </p:txBody>
      </p:sp>
      <p:sp>
        <p:nvSpPr>
          <p:cNvPr id="13" name="Rectangle 12"/>
          <p:cNvSpPr/>
          <p:nvPr/>
        </p:nvSpPr>
        <p:spPr>
          <a:xfrm>
            <a:off x="3493008" y="3712464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LiveKit Cloud · Daily · 声网 Agora 等 RTC PaaS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66928" y="4279392"/>
            <a:ext cx="292608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电话接入</a:t>
            </a:r>
          </a:p>
        </p:txBody>
      </p:sp>
      <p:sp>
        <p:nvSpPr>
          <p:cNvPr id="15" name="Rectangle 14"/>
          <p:cNvSpPr/>
          <p:nvPr/>
        </p:nvSpPr>
        <p:spPr>
          <a:xfrm>
            <a:off x="3493008" y="4279392"/>
            <a:ext cx="8138160" cy="566928"/>
          </a:xfrm>
          <a:prstGeom prst="rect">
            <a:avLst/>
          </a:prstGeom>
          <a:solidFill>
            <a:srgbClr val="FFFFFF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Twilio · SIP（Session Initiation Protocol，会话发起协议） 网关 · 云呼叫中心对接</a:t>
            </a:r>
          </a:p>
        </p:txBody>
      </p:sp>
      <p:sp>
        <p:nvSpPr>
          <p:cNvPr id="16" name="Rectangle 15"/>
          <p:cNvSpPr/>
          <p:nvPr/>
        </p:nvSpPr>
        <p:spPr>
          <a:xfrm>
            <a:off x="566928" y="4846320"/>
            <a:ext cx="292608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1">
                <a:solidFill>
                  <a:srgbClr val="0B2540"/>
                </a:solidFill>
                <a:latin typeface="Calibri"/>
              </a:rPr>
              <a:t>编排框架</a:t>
            </a:r>
          </a:p>
        </p:txBody>
      </p:sp>
      <p:sp>
        <p:nvSpPr>
          <p:cNvPr id="17" name="Rectangle 16"/>
          <p:cNvSpPr/>
          <p:nvPr/>
        </p:nvSpPr>
        <p:spPr>
          <a:xfrm>
            <a:off x="3493008" y="4846320"/>
            <a:ext cx="8138160" cy="566928"/>
          </a:xfrm>
          <a:prstGeom prst="rect">
            <a:avLst/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l"/>
            <a:r>
              <a:rPr sz="1150" b="0">
                <a:solidFill>
                  <a:srgbClr val="1A2733"/>
                </a:solidFill>
                <a:latin typeface="Calibri"/>
              </a:rPr>
              <a:t>Pipecat / LiveKit Agents（自托管）· Vapi / Retell（托管）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5577840"/>
            <a:ext cx="11064240" cy="640080"/>
          </a:xfrm>
          <a:prstGeom prst="roundRect">
            <a:avLst/>
          </a:prstGeom>
          <a:solidFill>
            <a:srgbClr val="FFFFFF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68096" y="5669279"/>
            <a:ext cx="10661904" cy="475488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50" b="1">
                <a:solidFill>
                  <a:srgbClr val="C0642A"/>
                </a:solidFill>
                <a:latin typeface="Calibri"/>
              </a:rPr>
              <a:t>组合建议：</a:t>
            </a:r>
            <a:r>
              <a:rPr sz="1250" b="0">
                <a:solidFill>
                  <a:srgbClr val="1A2733"/>
                </a:solidFill>
                <a:latin typeface="Calibri"/>
              </a:rPr>
              <a:t>demo 直接上端到端 API 最快；进生产先问三件事——接不接电话（SIP）、要不要私有化（开源自部署）、合规要不要文字留痕（要 → 级联）。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457200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F2A65A"/>
                </a:solidFill>
                <a:latin typeface="Calibri"/>
              </a:rPr>
              <a:t>动手做 · HANDS-ON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841248"/>
            <a:ext cx="1097280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700" b="1">
                <a:solidFill>
                  <a:srgbClr val="FFFFFF"/>
                </a:solidFill>
                <a:latin typeface="Cambria"/>
              </a:rPr>
              <a:t>第 8 章 · 语音与实时交互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83080"/>
            <a:ext cx="11064240" cy="3383280"/>
          </a:xfrm>
          <a:prstGeom prst="round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914400" y="205740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1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OpenAI Realtime API（或 Gemini Live）跑通一个浏览器语音对话 demo，感受端到端的响应速度，并试着在它说话时打断它。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14400" y="292608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2 · </a:t>
            </a:r>
            <a:r>
              <a:rPr sz="1500" b="1">
                <a:solidFill>
                  <a:srgbClr val="EAF3F5"/>
                </a:solidFill>
                <a:latin typeface="Calibri"/>
              </a:rPr>
              <a:t>用 Pipecat 拼一条最小级联管线（任一 ASR + 任一 LLM + 任一 TTS），在日志里打出 ASR 首字、LLM 首 token、TTS 首音三个时间戳，算出各段占比。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914400" y="3794760"/>
            <a:ext cx="1042416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500" b="1">
                <a:solidFill>
                  <a:srgbClr val="F2A65A"/>
                </a:solidFill>
                <a:latin typeface="Calibri"/>
              </a:rPr>
              <a:t>3 · </a:t>
            </a:r>
            <a:r>
              <a:rPr sz="1500" b="1">
                <a:solidFill>
                  <a:srgbClr val="EAF3F5"/>
                </a:solidFill>
                <a:latin typeface="Calibri"/>
              </a:rPr>
              <a:t>把系统提示从 2000 字减到 200 字、换 mini 档模型，再测一轮首音时延和每分钟成本——这就是你给客户的优化前后对比。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5349240"/>
            <a:ext cx="11064240" cy="868680"/>
          </a:xfrm>
          <a:prstGeom prst="roundRect">
            <a:avLst/>
          </a:prstGeom>
          <a:solidFill>
            <a:srgbClr val="0B254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5486400"/>
            <a:ext cx="10607040" cy="6400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50" b="1">
                <a:solidFill>
                  <a:srgbClr val="F2A65A"/>
                </a:solidFill>
                <a:latin typeface="Calibri"/>
              </a:rPr>
              <a:t>提示：</a:t>
            </a:r>
            <a:r>
              <a:rPr sz="1250" b="1">
                <a:solidFill>
                  <a:srgbClr val="EAF3F5"/>
                </a:solidFill>
                <a:latin typeface="Calibri"/>
              </a:rPr>
              <a:t>重点观察「首音时延」而非「说完时延」——用户感知的是第一声什么时候出来；打断体验比快 100ms 更值钱。</a:t>
            </a:r>
          </a:p>
        </p:txBody>
      </p:sp>
    </p:spTree>
  </p:cSld>
  <p:clrMapOvr>
    <a:masterClrMapping/>
  </p:clrMapOvr>
</p:sld>
</file>

<file path=ppt/slides/slide9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对练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2800" b="1">
                <a:solidFill>
                  <a:srgbClr val="0B2540"/>
                </a:solidFill>
                <a:latin typeface="Cambria"/>
              </a:rPr>
              <a:t>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1572768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你们语音客服的延迟能压到多少？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66928" y="1956816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分架构说：端到端能进 1 秒（标杆约 800ms）；级联生产目标 P50 1.5 秒内。瓶颈通常在 LLM 首 token，我们从模型档位、提示词长度、流式化三处下手，先测基线再承诺数字。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2734056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端到端模型又快又自然，为什么你们还推级联？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3118104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快是真的，但它中间没有文字可审计，护栏、质检、合规都要重做，供应商也只有少数几家。电话客服、金融这类要留痕可控的场景，2026 年主流仍是级联；两条路线都能搭，按合规要求选。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3895344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语音机器人一分钟成本多少？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4279392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级联约 0.01–0.17 美元/分钟、可预测；端到端换代后官方只公布 token 单价（音频进 $32 / 出 $64 每百万），分钟成本要用您的话务实测折算，再按「分钟 × 并发 × 时长」算总账。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5056632"/>
            <a:ext cx="11064240" cy="41148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300" b="1">
                <a:solidFill>
                  <a:srgbClr val="0E4D64"/>
                </a:solidFill>
                <a:latin typeface="Calibri"/>
              </a:rPr>
              <a:t>Q：</a:t>
            </a:r>
            <a:r>
              <a:rPr sz="1300" b="1">
                <a:solidFill>
                  <a:srgbClr val="0B2540"/>
                </a:solidFill>
                <a:latin typeface="Calibri"/>
              </a:rPr>
              <a:t>能接我们现有的呼叫中心吗？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5440680"/>
            <a:ext cx="11064240" cy="73152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C0642A"/>
                </a:solidFill>
                <a:latin typeface="Calibri"/>
              </a:rPr>
              <a:t>A：</a:t>
            </a:r>
            <a:r>
              <a:rPr sz="1200" b="1">
                <a:solidFill>
                  <a:srgbClr val="1A2733"/>
                </a:solidFill>
                <a:latin typeface="Calibri"/>
              </a:rPr>
              <a:t>能：走 SIP/电话网关把呼入呼出接进来，坐席侧系统不用换。注意电话是 8kHz 窄带音质，ASR 要选电话场景调优过的模型——这点我们会在 POC（Proof of Concept） 里先验证。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1200" b="1">
                <a:solidFill>
                  <a:srgbClr val="128199"/>
                </a:solidFill>
                <a:latin typeface="Calibri"/>
              </a:rPr>
              <a:t>第 8 章 · 小结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3000" b="1">
                <a:solidFill>
                  <a:srgbClr val="0B2540"/>
                </a:solidFill>
                <a:latin typeface="Cambria"/>
              </a:rPr>
              <a:t>本章小结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566928" y="1737360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Rectangle 4"/>
          <p:cNvSpPr/>
          <p:nvPr/>
        </p:nvSpPr>
        <p:spPr>
          <a:xfrm>
            <a:off x="777240" y="2002536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1207008" y="1856231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一句话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4297680" y="1837943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语音 = 实时系统工程：能力看模型，体验看链路——半秒的空隙就是分水岭。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66928" y="2633472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777240" y="2898648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207008" y="2752344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两条路线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0" y="2734056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级联可审计、可换件、成本可预测；端到端快而自然但黑盒——合规场景级联仍是 2026 主流。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66928" y="3529584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ectangle 12"/>
          <p:cNvSpPr/>
          <p:nvPr/>
        </p:nvSpPr>
        <p:spPr>
          <a:xfrm>
            <a:off x="777240" y="3794759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1207008" y="3648456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延迟预算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4297680" y="3630168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级联 P50 &lt;1.5s、端到端标杆 &lt;800ms；大头在 LLM 首 token，流式化是第一杠杆。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566928" y="4425696"/>
            <a:ext cx="11064240" cy="786384"/>
          </a:xfrm>
          <a:prstGeom prst="roundRect">
            <a:avLst/>
          </a:prstGeom>
          <a:solidFill>
            <a:srgbClr val="F5F8F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Rectangle 16"/>
          <p:cNvSpPr/>
          <p:nvPr/>
        </p:nvSpPr>
        <p:spPr>
          <a:xfrm>
            <a:off x="777240" y="4690872"/>
            <a:ext cx="256032" cy="256032"/>
          </a:xfrm>
          <a:prstGeom prst="rect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1207008" y="4544568"/>
            <a:ext cx="3108960" cy="548640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450" b="1">
                <a:solidFill>
                  <a:srgbClr val="0B2540"/>
                </a:solidFill>
                <a:latin typeface="Calibri"/>
              </a:rPr>
              <a:t>成本口径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4297680" y="4526280"/>
            <a:ext cx="7178040" cy="603504"/>
          </a:xfrm>
          <a:prstGeom prst="rect">
            <a:avLst/>
          </a:prstGeom>
          <a:noFill/>
        </p:spPr>
        <p:txBody>
          <a:bodyPr wrap="square" anchor="ctr">
            <a:spAutoFit/>
          </a:bodyPr>
          <a:lstStyle/>
          <a:p>
            <a:pPr algn="l"/>
            <a:r>
              <a:rPr sz="1200" b="0">
                <a:solidFill>
                  <a:srgbClr val="1A2733"/>
                </a:solidFill>
                <a:latin typeface="Calibri"/>
              </a:rPr>
              <a:t>对客报「每分钟」：级联 $0.01–0.17；端到端只有 token 官方价，先实测折算再承诺。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anchor="t">
            <a:spAutoFit/>
          </a:bodyPr>
          <a:lstStyle/>
          <a:p>
            <a:pPr algn="l"/>
            <a:r>
              <a:rPr sz="900" b="0">
                <a:solidFill>
                  <a:srgbClr val="9FB3C0"/>
                </a:solidFill>
                <a:latin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9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E4D64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ounded Rectangle 2"/>
          <p:cNvSpPr/>
          <p:nvPr/>
        </p:nvSpPr>
        <p:spPr>
          <a:xfrm>
            <a:off x="822960" y="1371600"/>
            <a:ext cx="1051560" cy="365760"/>
          </a:xfrm>
          <a:prstGeom prst="roundRect">
            <a:avLst>
              <a:gd name="adj" fmla="val 50000"/>
            </a:avLst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300" b="1">
                <a:solidFill>
                  <a:srgbClr val="0B2540"/>
                </a:solidFill>
                <a:latin typeface="Calibri"/>
              </a:rPr>
              <a:t>第 10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2148840"/>
            <a:ext cx="10058400" cy="11887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400" b="1" i="0">
                <a:solidFill>
                  <a:srgbClr val="FFFFFF"/>
                </a:solidFill>
                <a:latin typeface="Cambria"/>
              </a:rPr>
              <a:t>售前速查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4290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800" b="0" i="0">
                <a:solidFill>
                  <a:srgbClr val="D6E1E8"/>
                </a:solidFill>
                <a:latin typeface="Cambria"/>
              </a:rPr>
              <a:t>Cheat Sheet · 术语 / 决策树 / 串联地图</a:t>
            </a:r>
          </a:p>
        </p:txBody>
      </p:sp>
    </p:spTree>
  </p:cSld>
  <p:clrMapOvr>
    <a:masterClrMapping/>
  </p:clrMapOvr>
</p:sld>
</file>

<file path=ppt/slides/slide9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术语速查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重点术语中英对照（中文为主）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31520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文本外多种模态的理解 / 生成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4297680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462272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视觉编码器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Vision Encoder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462272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把图变成视觉 token（如 CLIP）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028431" y="1417320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193023" y="1536192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图文对比学习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CLIP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193023" y="1965960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把图和文字对齐到同一空间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566928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31520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 Transformer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ViT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31520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把图切 patch 当 token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4297680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462272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投影层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Projection / MLP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462272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把视觉向量翻译进 LLM（LLaVA）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8028431" y="260603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8193023" y="272491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交叉注意力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Cross-Attention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8193023" y="315467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LLM 内部按需看图（Flamingo）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566928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731520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查询压缩器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Q-Former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31520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萃取少量精华视觉 token（BLIP-2）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4297680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4462272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原生多模态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Native / Early Fusion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4462272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训练时图文一起学，端到端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8028431" y="379475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8193023" y="391363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拼管线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Pipeline / Late Fusion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8193023" y="434339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OCR/ASR 转字 + 文本 LLM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566928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31520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扩散模型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Diffusion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731520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从噪声去噪生成，写实美学强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4297680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4462272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自回归生成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Autoregressive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4462272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逐 token 拼图，指令 / 文字强</a:t>
            </a:r>
          </a:p>
        </p:txBody>
      </p:sp>
      <p:sp>
        <p:nvSpPr>
          <p:cNvPr id="39" name="Rounded Rectangle 38"/>
          <p:cNvSpPr/>
          <p:nvPr/>
        </p:nvSpPr>
        <p:spPr>
          <a:xfrm>
            <a:off x="8028431" y="4983479"/>
            <a:ext cx="3602736" cy="1078992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0" name="TextBox 39"/>
          <p:cNvSpPr txBox="1"/>
          <p:nvPr/>
        </p:nvSpPr>
        <p:spPr>
          <a:xfrm>
            <a:off x="8193023" y="5102351"/>
            <a:ext cx="329184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350" b="1" i="0">
                <a:solidFill>
                  <a:srgbClr val="0B2540"/>
                </a:solidFill>
                <a:latin typeface="Calibri"/>
              </a:rPr>
              <a:t>视觉语言模型  </a:t>
            </a:r>
            <a:r>
              <a:rPr sz="1050" b="0" i="1">
                <a:solidFill>
                  <a:srgbClr val="0E4D64"/>
                </a:solidFill>
                <a:latin typeface="Calibri"/>
              </a:rPr>
              <a:t>VLM</a:t>
            </a:r>
          </a:p>
        </p:txBody>
      </p:sp>
      <p:sp>
        <p:nvSpPr>
          <p:cNvPr id="41" name="TextBox 40"/>
          <p:cNvSpPr txBox="1"/>
          <p:nvPr/>
        </p:nvSpPr>
        <p:spPr>
          <a:xfrm>
            <a:off x="8193023" y="5532119"/>
            <a:ext cx="329184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050" b="0" i="0">
                <a:solidFill>
                  <a:srgbClr val="51606E"/>
                </a:solidFill>
                <a:latin typeface="Calibri"/>
              </a:rPr>
              <a:t>能看图的语言模型统称</a:t>
            </a:r>
          </a:p>
        </p:txBody>
      </p:sp>
    </p:spTree>
  </p:cSld>
  <p:clrMapOvr>
    <a:masterClrMapping/>
  </p:clrMapOvr>
</p:sld>
</file>

<file path=ppt/slides/slide9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选型决策树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从需求到方案：一张决策树走完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66928" y="1600200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Oval 6"/>
          <p:cNvSpPr/>
          <p:nvPr/>
        </p:nvSpPr>
        <p:spPr>
          <a:xfrm>
            <a:off x="749808" y="1847088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1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234440" y="1700784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① 输入有非文字信息且是关键吗？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040880" y="1700784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否 → 用纯文本 LLM，别上多模态。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66928" y="2505456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Oval 10"/>
          <p:cNvSpPr/>
          <p:nvPr/>
        </p:nvSpPr>
        <p:spPr>
          <a:xfrm>
            <a:off x="749808" y="2752344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2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234440" y="2606040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② 要「转录」还是「理解」？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7040880" y="2606040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只要抠字段 → 传统 OCR / ASR 管线足够。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3410712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Oval 14"/>
          <p:cNvSpPr/>
          <p:nvPr/>
        </p:nvSpPr>
        <p:spPr>
          <a:xfrm>
            <a:off x="749808" y="3657600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3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1234440" y="3511296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③ 版式稳定吗？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040880" y="3511296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固定单据 → 拼管线（OCR + LLM）性价比最高。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66928" y="4315968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Oval 18"/>
          <p:cNvSpPr/>
          <p:nvPr/>
        </p:nvSpPr>
        <p:spPr>
          <a:xfrm>
            <a:off x="749808" y="4562856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4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1234440" y="4416552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④ 需要开放问答 / 图表推理 / 复杂版式？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040880" y="4416552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原生多模态模型（可与管线混合兜底）。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566928" y="5221224"/>
            <a:ext cx="11064240" cy="786384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2700">
            <a:solidFill>
              <a:srgbClr val="D9E2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Oval 22"/>
          <p:cNvSpPr/>
          <p:nvPr/>
        </p:nvSpPr>
        <p:spPr>
          <a:xfrm>
            <a:off x="749808" y="5468112"/>
            <a:ext cx="292608" cy="292608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00" b="1">
                <a:solidFill>
                  <a:srgbClr val="FFFFFF"/>
                </a:solidFill>
                <a:latin typeface="Calibri"/>
              </a:rPr>
              <a:t>5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1234440" y="5321808"/>
            <a:ext cx="566928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1" i="0">
                <a:solidFill>
                  <a:srgbClr val="0B2540"/>
                </a:solidFill>
                <a:latin typeface="Calibri"/>
              </a:rPr>
              <a:t>⑤ 数据敏感 / 量极大 / 要降本？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040880" y="5321808"/>
            <a:ext cx="4389120" cy="603504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</a:rPr>
              <a:t>是 → 自建开源 VLM（vLLM）；否 → 托管 API 起步。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566928" y="617220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68096" y="628192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五问走完，方案基本落地。多数企业文档场景的答案是「拼管线打底 + 原生兜底 + 托管起步」。</a:t>
            </a:r>
          </a:p>
        </p:txBody>
      </p:sp>
    </p:spTree>
  </p:cSld>
  <p:clrMapOvr>
    <a:masterClrMapping/>
  </p:clrMapOvr>
</p:sld>
</file>

<file path=ppt/slides/slide9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客户问题汇总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八个最高频问题，一页备好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66928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多模态和 OCR 区别？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66928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OCR 只转字，多模态能连看带理解、开放问答。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66928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我要不要上多模态？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66928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有关键非文字信息 + 要理解才上，否则更贵更慢。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66928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原生还是拼管线？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566928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版式稳走管线省钱，版式变 / 要理解走原生。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566928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开源能打过闭源吗？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66928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单项基准已逼近，综合稳定性闭源仍领先。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6126480" y="1691640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传图贵不贵？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126480" y="2002536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按视觉 token 计费，分辨率是主变量，可压。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126480" y="2752344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为什么比文本慢？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126480" y="3063239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视觉 token 多，prefill 重、首 token 延迟高。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126480" y="3813048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会不会瞎编 / 看错？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6126480" y="4123944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会，空间 / 计数 / 小字是短板，配评估兜底。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126480" y="4873752"/>
            <a:ext cx="5486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2000"/>
              </a:lnSpc>
              <a:spcBef>
                <a:spcPts val="0"/>
              </a:spcBef>
              <a:spcAft>
                <a:spcPts val="400"/>
              </a:spcAft>
            </a:pPr>
            <a:r>
              <a:rPr sz="1250" b="1" i="0">
                <a:solidFill>
                  <a:srgbClr val="0E4D64"/>
                </a:solidFill>
                <a:latin typeface="Calibri"/>
              </a:rPr>
              <a:t>Q </a:t>
            </a:r>
            <a:r>
              <a:rPr sz="1250" b="1" i="0">
                <a:solidFill>
                  <a:srgbClr val="0B2540"/>
                </a:solidFill>
                <a:latin typeface="Calibri"/>
              </a:rPr>
              <a:t>有什么新安全风险？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126480" y="5184648"/>
            <a:ext cx="5486400" cy="64008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4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A 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跨模态提示注入——图里藏指令，需当不可信输入。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</p:spTree>
  </p:cSld>
  <p:clrMapOvr>
    <a:masterClrMapping/>
  </p:clrMapOvr>
</p:sld>
</file>

<file path=ppt/slides/slide9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i="0" b="1">
                <a:solidFill>
                  <a:srgbClr val="128199"/>
                </a:solidFill>
                <a:latin typeface="Calibri"/>
              </a:rPr>
              <a:t>第 10 章 · 跨模块串联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多模态在知识库里的位置：和谁握手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售前速查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RAG · 多模态检索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本模块讲模型能力 ↔ RAG（Retrieval-Augmented Generation） 讲多模态怎么检索，互为上下游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Agent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多模态感知让 Agent 能看屏幕 / 图表 = computer use 前提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LLM 原理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ViT 与 Transformer 同源，注意力机制复用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Evaluation / Security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评估接 MMMU 等基准；安全接跨模态提示注入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多模态 Multimodal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定位：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应用模式层，与 RAG、Agent 同层。最强串联 RAG#rag-multimodal；第 8 章语音链路另接 LLM-Inference 与 Agent。</a:t>
            </a:r>
          </a:p>
        </p:txBody>
      </p:sp>
    </p:spTree>
  </p:cSld>
  <p:clrMapOvr>
    <a:masterClrMapping/>
  </p:clrMapOvr>
</p:sld>
</file>

<file path=ppt/slides/slide9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FFFFFF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8" y="310896"/>
            <a:ext cx="9144000" cy="3657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51606E"/>
                </a:solidFill>
                <a:latin typeface="Calibri"/>
              </a:rPr>
              <a:t>生产验收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8" y="713232"/>
            <a:ext cx="1106424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3000" b="1" i="0">
                <a:solidFill>
                  <a:srgbClr val="0B2540"/>
                </a:solidFill>
                <a:latin typeface="Cambria"/>
              </a:rPr>
              <a:t>多模态验收：证据、对齐、权限与回滚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8" y="6419088"/>
            <a:ext cx="64008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多模态讲义 · Multimodal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7955279" y="6419088"/>
            <a:ext cx="3657600" cy="3200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r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900" b="0" i="0">
                <a:solidFill>
                  <a:srgbClr val="9FB3C0"/>
                </a:solidFill>
                <a:latin typeface="Calibri"/>
              </a:rPr>
              <a:t>生产验收</a:t>
            </a:r>
          </a:p>
        </p:txBody>
      </p:sp>
      <p:cxnSp>
        <p:nvCxnSpPr>
          <p:cNvPr id="6" name="Connector 5"/>
          <p:cNvCxnSpPr/>
          <p:nvPr/>
        </p:nvCxnSpPr>
        <p:spPr>
          <a:xfrm>
            <a:off x="3950208" y="1792224"/>
            <a:ext cx="1078992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 flipH="1">
            <a:off x="7452360" y="1792224"/>
            <a:ext cx="822960" cy="1591056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 flipV="1">
            <a:off x="3950208" y="3383280"/>
            <a:ext cx="1078992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9" name="Connector 8"/>
          <p:cNvCxnSpPr/>
          <p:nvPr/>
        </p:nvCxnSpPr>
        <p:spPr>
          <a:xfrm flipH="1" flipV="1">
            <a:off x="7452360" y="3383280"/>
            <a:ext cx="822960" cy="1243584"/>
          </a:xfrm>
          <a:prstGeom prst="line">
            <a:avLst/>
          </a:prstGeom>
          <a:ln w="22225">
            <a:solidFill>
              <a:srgbClr val="B9C6D2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566928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输入 · 理解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58368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质量/采样/变换可追溯（资产清单）；页/区域/时间定位正确（标注真值集）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275320" y="148132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对齐 · 行动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366760" y="2157984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跨模态证据一致（冲突与缺失有测试）；工具权限不可被媒体内容改变——屏幕即注入面（接 Agent 模块）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566928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安全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658368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注入 / PII（Personally Identifiable Information） / 恶意文件被阻断——攻击集与硬门禁（接 Security 跨模态注入）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8275320" y="4315968"/>
            <a:ext cx="3383280" cy="621792"/>
          </a:xfrm>
          <a:prstGeom prst="roundRect">
            <a:avLst>
              <a:gd name="adj" fmla="val 9000"/>
            </a:avLst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250" b="1">
                <a:solidFill>
                  <a:srgbClr val="FFFFFF"/>
                </a:solidFill>
                <a:latin typeface="Calibri"/>
              </a:rPr>
              <a:t>运营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366760" y="4992623"/>
            <a:ext cx="3200400" cy="50292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ctr">
              <a:lnSpc>
                <a:spcPct val="103000"/>
              </a:lnSpc>
              <a:spcBef>
                <a:spcPts val="0"/>
              </a:spcBef>
              <a:spcAft>
                <a:spcPts val="400"/>
              </a:spcAft>
            </a:pPr>
            <a:r>
              <a:rPr sz="1000" b="0" i="0">
                <a:solidFill>
                  <a:srgbClr val="51606E"/>
                </a:solidFill>
                <a:latin typeface="Calibri"/>
              </a:rPr>
              <a:t>SLO（Service Level Objective） / 成本 / 来源可监控、可回滚——灰度、trace、演练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029200" y="2971800"/>
            <a:ext cx="2423160" cy="822960"/>
          </a:xfrm>
          <a:prstGeom prst="roundRect">
            <a:avLst>
              <a:gd name="adj" fmla="val 9000"/>
            </a:avLst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25400" rIns="25400" tIns="12700" bIns="12700"/>
          <a:lstStyle/>
          <a:p>
            <a:pPr algn="ctr"/>
            <a:r>
              <a:rPr sz="1400" b="1">
                <a:solidFill>
                  <a:srgbClr val="FFFFFF"/>
                </a:solidFill>
                <a:latin typeface="Calibri"/>
              </a:rPr>
              <a:t>验收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66928" y="5897880"/>
            <a:ext cx="11064240" cy="502920"/>
          </a:xfrm>
          <a:prstGeom prst="roundRect">
            <a:avLst>
              <a:gd name="adj" fmla="val 9000"/>
            </a:avLst>
          </a:prstGeom>
          <a:solidFill>
            <a:srgbClr val="F5F8FA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68096" y="6007608"/>
            <a:ext cx="10661904" cy="320040"/>
          </a:xfrm>
          <a:prstGeom prst="rect">
            <a:avLst/>
          </a:prstGeom>
          <a:noFill/>
        </p:spPr>
        <p:txBody>
          <a:bodyPr wrap="square" lIns="0" rIns="0" tIns="0" bIns="0" anchor="ctr">
            <a:spAutoFit/>
          </a:bodyPr>
          <a:lstStyle/>
          <a:p>
            <a:pPr algn="l">
              <a:lnSpc>
                <a:spcPct val="105000"/>
              </a:lnSpc>
              <a:spcBef>
                <a:spcPts val="0"/>
              </a:spcBef>
              <a:spcAft>
                <a:spcPts val="400"/>
              </a:spcAft>
            </a:pPr>
            <a:r>
              <a:rPr sz="1150" b="1" i="0">
                <a:solidFill>
                  <a:srgbClr val="C0642A"/>
                </a:solidFill>
                <a:latin typeface="Calibri"/>
              </a:rPr>
              <a:t>终极判断：</a:t>
            </a:r>
            <a:r>
              <a:rPr sz="1150" b="0" i="0">
                <a:solidFill>
                  <a:srgbClr val="1A2733"/>
                </a:solidFill>
                <a:latin typeface="Calibri"/>
              </a:rPr>
              <a:t>每个结论能回到原始证据，每个动作有确定性授权，每次模型或采样变化都能回归、降级和止损——演示能识别一张清晰图，不代表能处理真实媒体。</a:t>
            </a:r>
          </a:p>
        </p:txBody>
      </p:sp>
    </p:spTree>
  </p:cSld>
  <p:clrMapOvr>
    <a:masterClrMapping/>
  </p:clrMapOvr>
</p:sld>
</file>

<file path=ppt/slides/slide9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bg>
      <p:bgPr>
        <a:solidFill>
          <a:srgbClr val="0B2540"/>
        </a:solidFill>
        <a:effectLst/>
      </p:bgPr>
    </p:bg>
    <p:spTree>
      <p:nvGrpSpPr>
        <p:cNvPr id="1" name=""/>
        <p:cNvGrpSpPr/>
        <p:nvPr/>
      </p:nvGrpSpPr>
      <p:grpSpPr/>
      <p:sp>
        <p:nvSpPr>
          <p:cNvPr id="2" name="Oval 1"/>
          <p:cNvSpPr/>
          <p:nvPr/>
        </p:nvSpPr>
        <p:spPr>
          <a:xfrm>
            <a:off x="9966960" y="4663440"/>
            <a:ext cx="3291840" cy="3291840"/>
          </a:xfrm>
          <a:prstGeom prst="ellipse">
            <a:avLst/>
          </a:prstGeom>
          <a:solidFill>
            <a:srgbClr val="0E4D6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822960" y="2103120"/>
            <a:ext cx="10515600" cy="9144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4000" b="1" i="0">
                <a:solidFill>
                  <a:srgbClr val="FFFFFF"/>
                </a:solidFill>
                <a:latin typeface="Cambria"/>
              </a:rPr>
              <a:t>多模态讲义 · 完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822960" y="3200400"/>
            <a:ext cx="10058400" cy="54864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15000"/>
              </a:lnSpc>
              <a:spcBef>
                <a:spcPts val="0"/>
              </a:spcBef>
              <a:spcAft>
                <a:spcPts val="400"/>
              </a:spcAft>
            </a:pPr>
            <a:r>
              <a:rPr sz="1500" b="0" i="0">
                <a:solidFill>
                  <a:srgbClr val="EAF3F5"/>
                </a:solidFill>
                <a:latin typeface="Calibri"/>
              </a:rPr>
              <a:t>从「看/听怎么变成 token」→「模态怎么拼」→「盘能力」→「选型落地」，一条线讲透。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822960" y="3977639"/>
            <a:ext cx="10058400" cy="82296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20000"/>
              </a:lnSpc>
              <a:spcBef>
                <a:spcPts val="0"/>
              </a:spcBef>
              <a:spcAft>
                <a:spcPts val="400"/>
              </a:spcAft>
            </a:pPr>
            <a:r>
              <a:rPr sz="1300" b="0" i="0">
                <a:solidFill>
                  <a:srgbClr val="D6E1E8"/>
                </a:solidFill>
                <a:latin typeface="Calibri"/>
              </a:rPr>
              <a:t>怎么用这份讲义：对客前翻第 3 章（原生 vs 拼管线）和第 10 章（决策树 + 问题汇总）；语音项目先读第 8 章；做 demo 看第 6 章代码；被追问成本 / 安全查第 6、7 章。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822960" y="5943600"/>
            <a:ext cx="10058400" cy="457200"/>
          </a:xfrm>
          <a:prstGeom prst="rect">
            <a:avLst/>
          </a:prstGeom>
          <a:noFill/>
        </p:spPr>
        <p:txBody>
          <a:bodyPr wrap="square" lIns="0" rIns="0" tIns="0" bIns="0" anchor="t">
            <a:spAutoFit/>
          </a:bodyPr>
          <a:lstStyle/>
          <a:p>
            <a:pPr algn="l">
              <a:lnSpc>
                <a:spcPct val="100000"/>
              </a:lnSpc>
              <a:spcBef>
                <a:spcPts val="0"/>
              </a:spcBef>
              <a:spcAft>
                <a:spcPts val="400"/>
              </a:spcAft>
            </a:pPr>
            <a:r>
              <a:rPr sz="1200" b="0" i="0">
                <a:solidFill>
                  <a:srgbClr val="9FB3C0"/>
                </a:solidFill>
                <a:latin typeface="Calibri"/>
              </a:rPr>
              <a:t>配套：精选电子书书单（见 电子书书单.md）· 时效性事实核实于 2026-07-10（第 4/8/9 章 08-01 复核）</a:t>
            </a:r>
          </a:p>
        </p:txBody>
      </p:sp>
    </p:spTree>
  </p:cSld>
  <p:clrMapOvr>
    <a:masterClrMapping/>
  </p:clrMapOvr>
</p:sld>
</file>

<file path=ppt/slides/slide10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2 章 · CLIP  CONTRASTIVE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CLIP：图和文字，走进同一个语义空间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用 4 亿对「图 + 配文」训练：匹配的拉近、不匹配的推远——图文从此可比、可搜、可零样本分类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0E4D64"/>
                </a:solidFill>
                <a:latin typeface="Calibri"/>
                <a:ea typeface="Calibri"/>
              </a:rPr>
              <a:t>图片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128199"/>
                </a:solidFill>
                <a:latin typeface="Calibri"/>
                <a:ea typeface="Calibri"/>
              </a:rPr>
              <a:t>一张金毛照片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40080" y="3429000"/>
            <a:ext cx="1554480" cy="65836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993C1D"/>
                </a:solidFill>
                <a:latin typeface="Calibri"/>
                <a:ea typeface="Calibri"/>
              </a:rPr>
              <a:t>配文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2514600" y="233172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FFFFFF"/>
                </a:solidFill>
                <a:latin typeface="Calibri"/>
                <a:ea typeface="Calibri"/>
              </a:rPr>
              <a:t>图像编码器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EAF3F5"/>
                </a:solidFill>
                <a:latin typeface="Calibri"/>
                <a:ea typeface="Calibri"/>
              </a:rPr>
              <a:t>Image Encoder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14600" y="3429000"/>
            <a:ext cx="2286000" cy="65836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250" b="1" i="0">
                <a:solidFill>
                  <a:srgbClr val="4A1B0C"/>
                </a:solidFill>
                <a:latin typeface="Calibri"/>
                <a:ea typeface="Calibri"/>
              </a:rPr>
              <a:t>文本编码器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50" b="0" i="0">
                <a:solidFill>
                  <a:srgbClr val="4A1B0C"/>
                </a:solidFill>
                <a:latin typeface="Calibri"/>
                <a:ea typeface="Calibri"/>
              </a:rPr>
              <a:t>Text Encoder</a:t>
            </a:r>
          </a:p>
        </p:txBody>
      </p:sp>
      <p:cxnSp>
        <p:nvCxnSpPr>
          <p:cNvPr id="10" name="Connector 9"/>
          <p:cNvCxnSpPr/>
          <p:nvPr/>
        </p:nvCxnSpPr>
        <p:spPr>
          <a:xfrm>
            <a:off x="2212848" y="2660904"/>
            <a:ext cx="283464" cy="0"/>
          </a:xfrm>
          <a:prstGeom prst="line">
            <a:avLst/>
          </a:prstGeom>
          <a:ln w="1905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1" name="Connector 10"/>
          <p:cNvCxnSpPr/>
          <p:nvPr/>
        </p:nvCxnSpPr>
        <p:spPr>
          <a:xfrm>
            <a:off x="2212848" y="3758184"/>
            <a:ext cx="283464" cy="0"/>
          </a:xfrm>
          <a:prstGeom prst="line">
            <a:avLst/>
          </a:prstGeom>
          <a:ln w="1905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5257800" y="2286000"/>
            <a:ext cx="6309360" cy="2788920"/>
          </a:xfrm>
          <a:prstGeom prst="roundRect">
            <a:avLst>
              <a:gd name="adj" fmla="val 4000"/>
            </a:avLst>
          </a:prstGeom>
          <a:solidFill>
            <a:srgbClr val="F7FBFC"/>
          </a:solidFill>
          <a:ln w="12700">
            <a:solidFill>
              <a:srgbClr val="9FB3C0"/>
            </a:solidFill>
            <a:prstDash val="dash"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5440680" y="2395728"/>
            <a:ext cx="54864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同一语义空间 —— 意思相同的自动站到一起</a:t>
            </a:r>
          </a:p>
        </p:txBody>
      </p:sp>
      <p:cxnSp>
        <p:nvCxnSpPr>
          <p:cNvPr id="14" name="Connector 13"/>
          <p:cNvCxnSpPr/>
          <p:nvPr/>
        </p:nvCxnSpPr>
        <p:spPr>
          <a:xfrm>
            <a:off x="4828032" y="2660904"/>
            <a:ext cx="402336" cy="265176"/>
          </a:xfrm>
          <a:prstGeom prst="line">
            <a:avLst/>
          </a:prstGeom>
          <a:ln w="2032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15" name="Connector 14"/>
          <p:cNvCxnSpPr/>
          <p:nvPr/>
        </p:nvCxnSpPr>
        <p:spPr>
          <a:xfrm flipV="1">
            <a:off x="4828032" y="3291840"/>
            <a:ext cx="402336" cy="466344"/>
          </a:xfrm>
          <a:prstGeom prst="line">
            <a:avLst/>
          </a:prstGeom>
          <a:ln w="2032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6" name="Oval 15"/>
          <p:cNvSpPr/>
          <p:nvPr/>
        </p:nvSpPr>
        <p:spPr>
          <a:xfrm>
            <a:off x="6391655" y="3282696"/>
            <a:ext cx="201168" cy="201168"/>
          </a:xfrm>
          <a:prstGeom prst="ellipse">
            <a:avLst/>
          </a:prstGeom>
          <a:solidFill>
            <a:srgbClr val="128199"/>
          </a:solidFill>
          <a:ln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29400" y="3246120"/>
            <a:ext cx="14630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0">
                <a:solidFill>
                  <a:srgbClr val="0E4D64"/>
                </a:solidFill>
                <a:latin typeface="Calibri"/>
                <a:ea typeface="Calibri"/>
              </a:rPr>
              <a:t>金毛图</a:t>
            </a:r>
          </a:p>
        </p:txBody>
      </p:sp>
      <p:sp>
        <p:nvSpPr>
          <p:cNvPr id="18" name="Oval 17"/>
          <p:cNvSpPr/>
          <p:nvPr/>
        </p:nvSpPr>
        <p:spPr>
          <a:xfrm>
            <a:off x="6803136" y="3511296"/>
            <a:ext cx="201168" cy="201168"/>
          </a:xfrm>
          <a:prstGeom prst="ellipse">
            <a:avLst/>
          </a:prstGeom>
          <a:solidFill>
            <a:srgbClr val="F2A65A"/>
          </a:solidFill>
          <a:ln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7040880" y="354787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00" b="0" i="0">
                <a:solidFill>
                  <a:srgbClr val="993C1D"/>
                </a:solidFill>
                <a:latin typeface="Calibri"/>
                <a:ea typeface="Calibri"/>
              </a:rPr>
              <a:t>golden retriever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6309360" y="3913632"/>
            <a:ext cx="2011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27500A"/>
                </a:solidFill>
                <a:latin typeface="Calibri"/>
                <a:ea typeface="Calibri"/>
              </a:rPr>
              <a:t>匹配 → 拉近</a:t>
            </a:r>
          </a:p>
        </p:txBody>
      </p:sp>
      <p:sp>
        <p:nvSpPr>
          <p:cNvPr id="21" name="Oval 20"/>
          <p:cNvSpPr/>
          <p:nvPr/>
        </p:nvSpPr>
        <p:spPr>
          <a:xfrm>
            <a:off x="10323576" y="2642616"/>
            <a:ext cx="201168" cy="201168"/>
          </a:xfrm>
          <a:prstGeom prst="ellipse">
            <a:avLst/>
          </a:prstGeom>
          <a:solidFill>
            <a:srgbClr val="888780"/>
          </a:solidFill>
          <a:ln>
            <a:solidFill>
              <a:srgbClr val="88878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9646920" y="2615184"/>
            <a:ext cx="1828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50" b="0" i="0">
                <a:solidFill>
                  <a:srgbClr val="888780"/>
                </a:solidFill>
                <a:latin typeface="Calibri"/>
                <a:ea typeface="Calibri"/>
              </a:rPr>
              <a:t>汽车图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326880" y="4206240"/>
            <a:ext cx="210312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1" i="0">
                <a:solidFill>
                  <a:srgbClr val="888780"/>
                </a:solidFill>
                <a:latin typeface="Calibri"/>
                <a:ea typeface="Calibri"/>
              </a:rPr>
              <a:t>不匹配 → 推远</a:t>
            </a:r>
          </a:p>
        </p:txBody>
      </p:sp>
      <p:cxnSp>
        <p:nvCxnSpPr>
          <p:cNvPr id="24" name="Connector 23"/>
          <p:cNvCxnSpPr/>
          <p:nvPr/>
        </p:nvCxnSpPr>
        <p:spPr>
          <a:xfrm flipV="1">
            <a:off x="6949440" y="2788920"/>
            <a:ext cx="3383280" cy="822960"/>
          </a:xfrm>
          <a:prstGeom prst="line">
            <a:avLst/>
          </a:prstGeom>
          <a:ln w="12700">
            <a:solidFill>
              <a:srgbClr val="D6E1E8"/>
            </a:solidFill>
            <a:prstDash val="dash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5" name="TextBox 24"/>
          <p:cNvSpPr txBox="1"/>
          <p:nvPr/>
        </p:nvSpPr>
        <p:spPr>
          <a:xfrm>
            <a:off x="7955279" y="2999232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900" b="0" i="1">
                <a:solidFill>
                  <a:srgbClr val="51606E"/>
                </a:solidFill>
                <a:latin typeface="Calibri"/>
                <a:ea typeface="Calibri"/>
              </a:rPr>
              <a:t>距离大 = 语义远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914400" y="5330952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得到三样东西：图文进同一空间（可比可搜）· 零样本分类（给类别名就能认新类）· 成为多模态大模型的「眼睛」底座。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类比：把所有图和所有句子扔进同一个大操场，让「意思相同的」自动站到一起——之后给一句话，就能找到最像它的图。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机器怎么看</a:t>
            </a:r>
          </a:p>
        </p:txBody>
      </p:sp>
    </p:spTree>
  </p:cSld>
  <p:clrMapOvr>
    <a:masterClrMapping/>
  </p:clrMapOvr>
</p:sld>
</file>

<file path=ppt/slides/slide10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灵魂页  NATIVE vs PIPELINE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原生多模态 vs 拼管线：不是二选一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客户最纠结、你最能体现价值的一页——先看清两条路各自的强项与代价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原生多模态模型 —— 一个模型端到端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看图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1031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33172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理解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56616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3794760" y="2697480"/>
            <a:ext cx="123444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回答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强项：图表推理、复杂版式、开放问答、图文关联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代价：贵、慢、可能幻觉，能力是「黑盒」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适合：理解密集、版式多变、要开放问答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72200" y="2148840"/>
            <a:ext cx="5486400" cy="27432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拼管线 —— OCR/ASR + 文本 LLM 接力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922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OCR/ASR</a:t>
            </a:r>
          </a:p>
        </p:txBody>
      </p:sp>
      <p:cxnSp>
        <p:nvCxnSpPr>
          <p:cNvPr id="17" name="Connector 16"/>
          <p:cNvCxnSpPr/>
          <p:nvPr/>
        </p:nvCxnSpPr>
        <p:spPr>
          <a:xfrm>
            <a:off x="7955279" y="2935224"/>
            <a:ext cx="182881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8" name="Rounded Rectangle 17"/>
          <p:cNvSpPr/>
          <p:nvPr/>
        </p:nvSpPr>
        <p:spPr>
          <a:xfrm>
            <a:off x="813816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文本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9235440" y="2935224"/>
            <a:ext cx="502920" cy="0"/>
          </a:xfrm>
          <a:prstGeom prst="line">
            <a:avLst/>
          </a:prstGeom>
          <a:ln w="17780">
            <a:solidFill>
              <a:srgbClr val="993C1D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9464040" y="2697480"/>
            <a:ext cx="1463040" cy="47548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4A1B0C"/>
                </a:solidFill>
                <a:latin typeface="Calibri"/>
                <a:ea typeface="Calibri"/>
              </a:rPr>
              <a:t>文本 LLM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446520" y="3310128"/>
            <a:ext cx="5029200" cy="1463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强项：字段稳定、可控、便宜、每步可替换 / 审计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代价：跨模态弱、误差累积、拼装维护成本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适合：版式固定、字段稳定、对成本敏感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5074920"/>
            <a:ext cx="10908792" cy="1188720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914400" y="5193792"/>
            <a:ext cx="10424160" cy="10515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27500A"/>
                </a:solidFill>
                <a:latin typeface="Calibri"/>
                <a:ea typeface="Calibri"/>
              </a:rPr>
              <a:t>划重点 · 很多真实系统是「混合」：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稳定部分走 OCR 管线省钱，疑难部分兜底给原生多模态。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别把它当二选一——「主管线 + 原生兜底」往往是成本与效果的最优解。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5 章 · 图像生成两大流派  DIFFUSION vs AR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扩散 vs 自回归：美术生和逻辑生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两种画图的方式，脾气完全不同——按「要艺术感」还是「要按指令」来选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扩散 Diffusion —— 像「美术生」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6868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随机噪声</a:t>
            </a:r>
          </a:p>
        </p:txBody>
      </p:sp>
      <p:cxnSp>
        <p:nvCxnSpPr>
          <p:cNvPr id="9" name="Connector 8"/>
          <p:cNvCxnSpPr/>
          <p:nvPr/>
        </p:nvCxnSpPr>
        <p:spPr>
          <a:xfrm>
            <a:off x="228600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0" name="Rounded Rectangle 9"/>
          <p:cNvSpPr/>
          <p:nvPr/>
        </p:nvSpPr>
        <p:spPr>
          <a:xfrm>
            <a:off x="2514600" y="2697480"/>
            <a:ext cx="1417320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逐步去噪</a:t>
            </a:r>
          </a:p>
        </p:txBody>
      </p:sp>
      <p:cxnSp>
        <p:nvCxnSpPr>
          <p:cNvPr id="11" name="Connector 10"/>
          <p:cNvCxnSpPr/>
          <p:nvPr/>
        </p:nvCxnSpPr>
        <p:spPr>
          <a:xfrm>
            <a:off x="3931920" y="2935224"/>
            <a:ext cx="228600" cy="0"/>
          </a:xfrm>
          <a:prstGeom prst="line">
            <a:avLst/>
          </a:prstGeom>
          <a:ln w="17780">
            <a:solidFill>
              <a:srgbClr val="128199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12" name="Rounded Rectangle 11"/>
          <p:cNvSpPr/>
          <p:nvPr/>
        </p:nvSpPr>
        <p:spPr>
          <a:xfrm>
            <a:off x="416052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822960" y="3310128"/>
            <a:ext cx="5029200" cy="1508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代表：Stable Diffusion、Midjourney、FLUX.2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强项：光影、质感、写实、艺术感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弱项：空间关系（猫在狗左边常画反）、文字渲染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2296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96012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0E4D64"/>
                </a:solidFill>
                <a:latin typeface="Calibri"/>
                <a:ea typeface="Calibri"/>
              </a:rPr>
              <a:t>一句话：画面美，但逻辑约束差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172200" y="2148840"/>
            <a:ext cx="5486400" cy="278892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0" y="2249424"/>
            <a:ext cx="51206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6B469C"/>
                </a:solidFill>
                <a:latin typeface="Calibri"/>
                <a:ea typeface="Calibri"/>
              </a:rPr>
              <a:t>自回归 Autoregressive —— 像「逻辑生」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53796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19" name="Connector 18"/>
          <p:cNvCxnSpPr/>
          <p:nvPr/>
        </p:nvCxnSpPr>
        <p:spPr>
          <a:xfrm>
            <a:off x="715975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0" name="Rounded Rectangle 19"/>
          <p:cNvSpPr/>
          <p:nvPr/>
        </p:nvSpPr>
        <p:spPr>
          <a:xfrm>
            <a:off x="726948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1" name="Connector 20"/>
          <p:cNvCxnSpPr/>
          <p:nvPr/>
        </p:nvCxnSpPr>
        <p:spPr>
          <a:xfrm>
            <a:off x="7891272" y="2935224"/>
            <a:ext cx="109728" cy="0"/>
          </a:xfrm>
          <a:prstGeom prst="line">
            <a:avLst/>
          </a:prstGeom>
          <a:ln w="1651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2" name="Rounded Rectangle 21"/>
          <p:cNvSpPr/>
          <p:nvPr/>
        </p:nvSpPr>
        <p:spPr>
          <a:xfrm>
            <a:off x="8001000" y="2697480"/>
            <a:ext cx="621792" cy="475488"/>
          </a:xfrm>
          <a:prstGeom prst="roundRect">
            <a:avLst>
              <a:gd name="adj" fmla="val 8000"/>
            </a:avLst>
          </a:prstGeom>
          <a:solidFill>
            <a:srgbClr val="FFFFFF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050" b="1" i="0">
                <a:solidFill>
                  <a:srgbClr val="6B469C"/>
                </a:solidFill>
                <a:latin typeface="Calibri"/>
                <a:ea typeface="Calibri"/>
              </a:rPr>
              <a:t>tok</a:t>
            </a:r>
          </a:p>
        </p:txBody>
      </p:sp>
      <p:cxnSp>
        <p:nvCxnSpPr>
          <p:cNvPr id="23" name="Connector 22"/>
          <p:cNvCxnSpPr/>
          <p:nvPr/>
        </p:nvCxnSpPr>
        <p:spPr>
          <a:xfrm>
            <a:off x="8732520" y="2935224"/>
            <a:ext cx="365760" cy="0"/>
          </a:xfrm>
          <a:prstGeom prst="line">
            <a:avLst/>
          </a:prstGeom>
          <a:ln w="17780">
            <a:solidFill>
              <a:srgbClr val="6B469C"/>
            </a:solidFill>
            <a:tailEnd type="triangle" w="med" len="med"/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24" name="Rounded Rectangle 23"/>
          <p:cNvSpPr/>
          <p:nvPr/>
        </p:nvSpPr>
        <p:spPr>
          <a:xfrm>
            <a:off x="9144000" y="2697480"/>
            <a:ext cx="1097280" cy="475488"/>
          </a:xfrm>
          <a:prstGeom prst="roundRect">
            <a:avLst>
              <a:gd name="adj" fmla="val 8000"/>
            </a:avLst>
          </a:prstGeom>
          <a:solidFill>
            <a:srgbClr val="6B469C"/>
          </a:solidFill>
          <a:ln w="15875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100" b="1" i="0">
                <a:solidFill>
                  <a:srgbClr val="FFFFFF"/>
                </a:solidFill>
                <a:latin typeface="Calibri"/>
                <a:ea typeface="Calibri"/>
              </a:rPr>
              <a:t>成图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537960" y="3218688"/>
            <a:ext cx="4114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950" b="0" i="1">
                <a:solidFill>
                  <a:srgbClr val="51606E"/>
                </a:solidFill>
                <a:latin typeface="Calibri"/>
                <a:ea typeface="Calibri"/>
              </a:rPr>
              <a:t>像写句子一样逐 token「拼」出图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446520" y="3456432"/>
            <a:ext cx="5029200" cy="13716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代表：GPT Image 2、Nano Banana 2、Luma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强项：空间关系、多约束指令遵循、文字渲染</a:t>
            </a:r>
          </a:p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弱项：生成略慢（在快速改善）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6446520" y="4407408"/>
            <a:ext cx="4937760" cy="402336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6583680" y="4453128"/>
            <a:ext cx="4754880" cy="329184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00" b="1" i="0">
                <a:solidFill>
                  <a:srgbClr val="6B469C"/>
                </a:solidFill>
                <a:latin typeface="Calibri"/>
                <a:ea typeface="Calibri"/>
              </a:rPr>
              <a:t>一句话：听得懂复杂要求、字写得准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640080" y="5230368"/>
            <a:ext cx="10908792" cy="1033271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914400" y="5349240"/>
            <a:ext cx="104241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对客一句话：</a:t>
            </a:r>
            <a:r>
              <a:rPr sz="1200" b="0" i="0">
                <a:solidFill>
                  <a:srgbClr val="1A2733"/>
                </a:solidFill>
                <a:latin typeface="Calibri"/>
                <a:ea typeface="Calibri"/>
              </a:rPr>
              <a:t>要「好看的艺术图」偏扩散；要「按复杂指令、带准确文字的图」（海报、UI、信息图）偏自回归。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趋势：自回归正和 LLM「合体」，指令遵循与文字渲染的优势会越来越关键。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生成侧盘点</a:t>
            </a:r>
          </a:p>
        </p:txBody>
      </p:sp>
    </p:spTree>
  </p:cSld>
  <p:clrMapOvr>
    <a:masterClrMapping/>
  </p:clrMapOvr>
</p:sld>
</file>

<file path=ppt/slides/slide10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6 章 · 决策框架  IRON TRIANGLE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成本 / 延迟 / 精度：三角里只能选两个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像项目管理的铁三角，三者互相拉扯——对客开场先问「哪个最不能妥协」，方案立刻收敛</a:t>
            </a:r>
          </a:p>
        </p:txBody>
      </p:sp>
      <p:cxnSp>
        <p:nvCxnSpPr>
          <p:cNvPr id="6" name="Connector 5"/>
          <p:cNvCxnSpPr/>
          <p:nvPr/>
        </p:nvCxnSpPr>
        <p:spPr>
          <a:xfrm flipH="1">
            <a:off x="1554480" y="2651760"/>
            <a:ext cx="1691640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7" name="Connector 6"/>
          <p:cNvCxnSpPr/>
          <p:nvPr/>
        </p:nvCxnSpPr>
        <p:spPr>
          <a:xfrm>
            <a:off x="3246120" y="2651760"/>
            <a:ext cx="1691639" cy="2103119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cxnSp>
        <p:nvCxnSpPr>
          <p:cNvPr id="8" name="Connector 7"/>
          <p:cNvCxnSpPr/>
          <p:nvPr/>
        </p:nvCxnSpPr>
        <p:spPr>
          <a:xfrm>
            <a:off x="1691640" y="4892040"/>
            <a:ext cx="3108960" cy="0"/>
          </a:xfrm>
          <a:prstGeom prst="line">
            <a:avLst/>
          </a:prstGeom>
          <a:ln w="25400">
            <a:solidFill>
              <a:srgbClr val="128199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9" name="TextBox 8"/>
          <p:cNvSpPr txBox="1"/>
          <p:nvPr/>
        </p:nvSpPr>
        <p:spPr>
          <a:xfrm>
            <a:off x="2103120" y="3657600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500" b="1" i="0">
                <a:solidFill>
                  <a:srgbClr val="0E4D64"/>
                </a:solidFill>
                <a:latin typeface="Calibri"/>
                <a:ea typeface="Calibri"/>
              </a:rPr>
              <a:t>选两个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2103120" y="4041648"/>
            <a:ext cx="237744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就得让一个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2468880" y="228600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128199"/>
          </a:solidFill>
          <a:ln w="15875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FFFFFF"/>
                </a:solidFill>
                <a:latin typeface="Calibri"/>
                <a:ea typeface="Calibri"/>
              </a:rPr>
              <a:t>精度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EAF3F5"/>
                </a:solidFill>
                <a:latin typeface="Calibri"/>
                <a:ea typeface="Calibri"/>
              </a:rPr>
              <a:t>Accuracy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59436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成本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Cost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4343400" y="4846320"/>
            <a:ext cx="1554480" cy="566928"/>
          </a:xfrm>
          <a:prstGeom prst="roundRect">
            <a:avLst>
              <a:gd name="adj" fmla="val 8000"/>
            </a:avLst>
          </a:prstGeom>
          <a:solidFill>
            <a:srgbClr val="F2A65A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73152" rIns="73152" tIns="27432" bIns="27432"/>
          <a:lstStyle/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1300" b="1" i="0">
                <a:solidFill>
                  <a:srgbClr val="4A1B0C"/>
                </a:solidFill>
                <a:latin typeface="Calibri"/>
                <a:ea typeface="Calibri"/>
              </a:rPr>
              <a:t>延迟</a:t>
            </a:r>
          </a:p>
          <a:p>
            <a:pPr algn="ctr">
              <a:lnSpc>
                <a:spcPct val="100000"/>
              </a:lnSpc>
              <a:spcBef>
                <a:spcPts val="0"/>
              </a:spcBef>
              <a:spcAft>
                <a:spcPts val="150"/>
              </a:spcAft>
            </a:pPr>
            <a:r>
              <a:rPr sz="900" b="0" i="0">
                <a:solidFill>
                  <a:srgbClr val="4A1B0C"/>
                </a:solidFill>
                <a:latin typeface="Calibri"/>
                <a:ea typeface="Calibri"/>
              </a:rPr>
              <a:t>Latency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446520" y="2377440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675120" y="2496312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精度优先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上最强旗舰、高分辨率、开放问答；代价是贵和慢。适合医疗 / 金融等容错低场景。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46520" y="3675887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675120" y="3794759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成本优先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拼管线打底、开源 VLM 自部署、低分辨率够用即可。适合海量、字段稳定场景。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6446520" y="4974336"/>
            <a:ext cx="5349240" cy="1170432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6675120" y="5093208"/>
            <a:ext cx="493776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延迟优先　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小模型 / 缓存 / 预处理降 token；牺牲部分精度换实时。适合实时交互、语音对话。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选型与动手做</a:t>
            </a:r>
          </a:p>
        </p:txBody>
      </p:sp>
    </p:spTree>
  </p:cSld>
  <p:clrMapOvr>
    <a:masterClrMapping/>
  </p:clrMapOvr>
</p:sld>
</file>

<file path=ppt/slides/slide10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3 章 · 模态怎么拼  THREE FUSION ROUTES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三条融合路线：把视觉接到大脑的三种接法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都在解决同一个问题——视觉 token 怎么进 LLM；差别在 token 开销与工程复杂度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48640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777240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0E4D64"/>
                </a:solidFill>
                <a:latin typeface="Calibri"/>
                <a:ea typeface="Calibri"/>
              </a:rPr>
              <a:t>1. 投影层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Projection · LLaVA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804672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视觉向量 → 投影层 MLP（Multi-Layer Perceptron，多层感知机） → 拼进文字序列当 token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804672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开销：大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结构简单、几乎不动 LLM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开源主流、生态最繁荣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4288536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517136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993C1D"/>
                </a:solidFill>
                <a:latin typeface="Calibri"/>
                <a:ea typeface="Calibri"/>
              </a:rPr>
              <a:t>2. 交叉注意力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Cross-Attn · Flamingo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544568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LLM 内部插交叉注意力层，生成时按需「回看」图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544568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开销：小（序列不被撑长）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工程重、改动大、难复刻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多见于大厂自研旗舰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8028431" y="2194560"/>
            <a:ext cx="3611880" cy="269748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8257031" y="2340864"/>
            <a:ext cx="315468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450" b="1" i="0">
                <a:solidFill>
                  <a:srgbClr val="6B469C"/>
                </a:solidFill>
                <a:latin typeface="Calibri"/>
                <a:ea typeface="Calibri"/>
              </a:rPr>
              <a:t>3. Q-Former</a:t>
            </a:r>
          </a:p>
          <a:p>
            <a:pPr algn="l"/>
            <a:r>
              <a:rPr sz="1000" b="0" i="1">
                <a:solidFill>
                  <a:srgbClr val="51606E"/>
                </a:solidFill>
                <a:latin typeface="Calibri"/>
                <a:ea typeface="Calibri"/>
              </a:rPr>
              <a:t>BLIP-2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8284463" y="3035808"/>
            <a:ext cx="3099816" cy="7772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1A2733"/>
                </a:solidFill>
                <a:latin typeface="Calibri"/>
                <a:ea typeface="Calibri"/>
              </a:rPr>
              <a:t>查询向量从上千 token 萃取几十个精华再喂 LLM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8284463" y="3858768"/>
            <a:ext cx="3099816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token 开销：最省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编码器 / LLM 都可冻结</a:t>
            </a:r>
          </a:p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· 可能丢细节、近年被投影层部分取代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5138928"/>
            <a:ext cx="11000232" cy="109728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822960" y="5248656"/>
            <a:ext cx="10515600" cy="9601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0E4D64"/>
                </a:solidFill>
                <a:latin typeface="Calibri"/>
                <a:ea typeface="Calibri"/>
              </a:rPr>
              <a:t>一句话选型：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开源起步、图不大 → 投影层；要长上下文 / 图文交错、有工程力 → 交叉注意力；视觉 token 太贵要压 → Q-Former。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模态怎么拼</a:t>
            </a:r>
          </a:p>
        </p:txBody>
      </p:sp>
    </p:spTree>
  </p:cSld>
  <p:clrMapOvr>
    <a:masterClrMapping/>
  </p:clrMapOvr>
</p:sld>
</file>

<file path=ppt/slides/slide10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级联管线  LATENCY BUDGET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级联时延预算：首音时延花在哪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衡量口径永远是「首音时延」不是「说完时延」——瓶颈在 LLM 首 token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40080" y="2331720"/>
            <a:ext cx="1900674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640080" y="2459736"/>
            <a:ext cx="1900674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ASR 转写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40080" y="3145536"/>
            <a:ext cx="1900674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100–300ms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2540754" y="2331720"/>
            <a:ext cx="6414775" cy="777240"/>
          </a:xfrm>
          <a:prstGeom prst="roundRect">
            <a:avLst>
              <a:gd name="adj" fmla="val 4000"/>
            </a:avLst>
          </a:prstGeom>
          <a:solidFill>
            <a:srgbClr val="F2A65A"/>
          </a:solidFill>
          <a:ln w="12700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2540754" y="2459736"/>
            <a:ext cx="6414775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4A1B0C"/>
                </a:solidFill>
                <a:latin typeface="Calibri"/>
                <a:ea typeface="Calibri"/>
              </a:rPr>
              <a:t>LLM 首 token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2540754" y="3145536"/>
            <a:ext cx="6414775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350–1000ms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8955529" y="2331720"/>
            <a:ext cx="1377988" cy="7772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8955529" y="2459736"/>
            <a:ext cx="1377988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TTS 首音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8955529" y="3145536"/>
            <a:ext cx="1377988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90–200ms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10333518" y="2331720"/>
            <a:ext cx="1187921" cy="777240"/>
          </a:xfrm>
          <a:prstGeom prst="roundRect">
            <a:avLst>
              <a:gd name="adj" fmla="val 4000"/>
            </a:avLst>
          </a:prstGeom>
          <a:solidFill>
            <a:srgbClr val="9FB3C0"/>
          </a:solidFill>
          <a:ln w="12700">
            <a:solidFill>
              <a:srgbClr val="51606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10333518" y="2459736"/>
            <a:ext cx="1187921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1" i="0">
                <a:solidFill>
                  <a:srgbClr val="FFFFFF"/>
                </a:solidFill>
                <a:latin typeface="Calibri"/>
                <a:ea typeface="Calibri"/>
              </a:rPr>
              <a:t>网络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10333518" y="3145536"/>
            <a:ext cx="1187921" cy="29260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000" b="0" i="0">
                <a:solidFill>
                  <a:srgbClr val="51606E"/>
                </a:solidFill>
                <a:latin typeface="Calibri"/>
                <a:ea typeface="Calibri"/>
              </a:rPr>
              <a:t>50–200ms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640080" y="2039112"/>
            <a:ext cx="108813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1">
                <a:solidFill>
                  <a:srgbClr val="51606E"/>
                </a:solidFill>
                <a:latin typeface="Calibri"/>
                <a:ea typeface="Calibri"/>
              </a:rPr>
              <a:t>用户说完（VAD 判定） ───────────────► 用户听到（首音）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548640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77240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0E4D64"/>
                </a:solidFill>
                <a:latin typeface="Calibri"/>
                <a:ea typeface="Calibri"/>
              </a:rPr>
              <a:t>开关一 · 全链路流式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ASR 边听边出字、LLM 边想边吐、TTS 边收边说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首音取决于「首 token」，不是「全文生成完」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任何一段等全量输出，延迟立刻爆表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108192" y="3611880"/>
            <a:ext cx="5440680" cy="1828800"/>
          </a:xfrm>
          <a:prstGeom prst="roundRect">
            <a:avLst>
              <a:gd name="adj" fmla="val 4000"/>
            </a:avLst>
          </a:prstGeom>
          <a:solidFill>
            <a:srgbClr val="FBF0E6"/>
          </a:solidFill>
          <a:ln w="12700">
            <a:solidFill>
              <a:srgbClr val="F2A6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336792" y="3730752"/>
            <a:ext cx="5029200" cy="1645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993C1D"/>
                </a:solidFill>
                <a:latin typeface="Calibri"/>
                <a:ea typeface="Calibri"/>
              </a:rPr>
              <a:t>开关二 · 瓶颈在 LLM 首 token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占大头：模型档位选小、提示词减脂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KV 缓存复用系统提示（见 LLM-Inference）</a:t>
            </a:r>
          </a:p>
          <a:p>
            <a:pPr algn="l"/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· 工具调用最伤延迟——能预取的别现查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48640" y="5577840"/>
            <a:ext cx="11000232" cy="685800"/>
          </a:xfrm>
          <a:prstGeom prst="roundRect">
            <a:avLst>
              <a:gd name="adj" fmla="val 4000"/>
            </a:avLst>
          </a:prstGeom>
          <a:solidFill>
            <a:srgbClr val="EAF3F5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822960" y="5669280"/>
            <a:ext cx="10515600" cy="56692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要点：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级联的真功夫不在挑最好的三个组件，而在把三段「焊」成流水线——口径永远是「首音时延」。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8 章 · 级联 vs 端到端  TRADE-OFF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级联 vs 端到端：六个维度的取舍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44752"/>
            <a:ext cx="11155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0" i="1">
                <a:solidFill>
                  <a:srgbClr val="51606E"/>
                </a:solidFill>
                <a:latin typeface="Calibri"/>
                <a:ea typeface="Calibri"/>
              </a:rPr>
              <a:t>要「像 ChatGPT 语音一样快」→ 端到端；要留痕可控（电话客服 / 金融）→ 级联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2926080" y="2084831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128199"/>
          </a:solidFill>
          <a:ln w="12700">
            <a:solidFill>
              <a:srgbClr val="0E4D64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7" name="TextBox 6"/>
          <p:cNvSpPr txBox="1"/>
          <p:nvPr/>
        </p:nvSpPr>
        <p:spPr>
          <a:xfrm>
            <a:off x="2926080" y="2185415"/>
            <a:ext cx="429768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级联管线 Cascaded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7315200" y="2084831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6B469C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315200" y="2185415"/>
            <a:ext cx="4233672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200" b="1" i="0">
                <a:solidFill>
                  <a:srgbClr val="FFFFFF"/>
                </a:solidFill>
                <a:latin typeface="Calibri"/>
                <a:ea typeface="Calibri"/>
              </a:rPr>
              <a:t>端到端 Speech-to-Speech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640080" y="2566720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640080" y="2658160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延迟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2926080" y="2566720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TextBox 12"/>
          <p:cNvSpPr txBox="1"/>
          <p:nvPr/>
        </p:nvSpPr>
        <p:spPr>
          <a:xfrm>
            <a:off x="3108960" y="2649016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P50 1–1.5 秒（流式后）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7315200" y="2566720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7498079" y="2649016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&lt; 1 秒，最快 ~0.3 秒</a:t>
            </a:r>
          </a:p>
        </p:txBody>
      </p:sp>
      <p:sp>
        <p:nvSpPr>
          <p:cNvPr id="16" name="Rounded Rectangle 15"/>
          <p:cNvSpPr/>
          <p:nvPr/>
        </p:nvSpPr>
        <p:spPr>
          <a:xfrm>
            <a:off x="640080" y="3048609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7" name="TextBox 16"/>
          <p:cNvSpPr txBox="1"/>
          <p:nvPr/>
        </p:nvSpPr>
        <p:spPr>
          <a:xfrm>
            <a:off x="640080" y="3140049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可调试性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2926080" y="3048609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3108960" y="3130905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三段可单测、有文字中间态</a:t>
            </a:r>
          </a:p>
        </p:txBody>
      </p:sp>
      <p:sp>
        <p:nvSpPr>
          <p:cNvPr id="20" name="Rounded Rectangle 19"/>
          <p:cNvSpPr/>
          <p:nvPr/>
        </p:nvSpPr>
        <p:spPr>
          <a:xfrm>
            <a:off x="7315200" y="3048609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TextBox 20"/>
          <p:cNvSpPr txBox="1"/>
          <p:nvPr/>
        </p:nvSpPr>
        <p:spPr>
          <a:xfrm>
            <a:off x="7498079" y="3130905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黑盒，问题难定位</a:t>
            </a:r>
          </a:p>
        </p:txBody>
      </p:sp>
      <p:sp>
        <p:nvSpPr>
          <p:cNvPr id="22" name="Rounded Rectangle 21"/>
          <p:cNvSpPr/>
          <p:nvPr/>
        </p:nvSpPr>
        <p:spPr>
          <a:xfrm>
            <a:off x="640080" y="3530498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3" name="TextBox 22"/>
          <p:cNvSpPr txBox="1"/>
          <p:nvPr/>
        </p:nvSpPr>
        <p:spPr>
          <a:xfrm>
            <a:off x="640080" y="3621938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供应商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2926080" y="3530498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3108960" y="3612794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ASR / TTS / LLM 各自可换</a:t>
            </a:r>
          </a:p>
        </p:txBody>
      </p:sp>
      <p:sp>
        <p:nvSpPr>
          <p:cNvPr id="26" name="Rounded Rectangle 25"/>
          <p:cNvSpPr/>
          <p:nvPr/>
        </p:nvSpPr>
        <p:spPr>
          <a:xfrm>
            <a:off x="7315200" y="3530498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7" name="TextBox 26"/>
          <p:cNvSpPr txBox="1"/>
          <p:nvPr/>
        </p:nvSpPr>
        <p:spPr>
          <a:xfrm>
            <a:off x="7498079" y="3612794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仅少数几家（OpenAI / Google 等）</a:t>
            </a:r>
          </a:p>
        </p:txBody>
      </p:sp>
      <p:sp>
        <p:nvSpPr>
          <p:cNvPr id="28" name="Rounded Rectangle 27"/>
          <p:cNvSpPr/>
          <p:nvPr/>
        </p:nvSpPr>
        <p:spPr>
          <a:xfrm>
            <a:off x="640080" y="4012387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9" name="TextBox 28"/>
          <p:cNvSpPr txBox="1"/>
          <p:nvPr/>
        </p:nvSpPr>
        <p:spPr>
          <a:xfrm>
            <a:off x="640080" y="4103827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合规审计</a:t>
            </a:r>
          </a:p>
        </p:txBody>
      </p:sp>
      <p:sp>
        <p:nvSpPr>
          <p:cNvPr id="30" name="Rounded Rectangle 29"/>
          <p:cNvSpPr/>
          <p:nvPr/>
        </p:nvSpPr>
        <p:spPr>
          <a:xfrm>
            <a:off x="2926080" y="4012387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1" name="TextBox 30"/>
          <p:cNvSpPr txBox="1"/>
          <p:nvPr/>
        </p:nvSpPr>
        <p:spPr>
          <a:xfrm>
            <a:off x="3108960" y="4094683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全程文字留痕、护栏成熟</a:t>
            </a:r>
          </a:p>
        </p:txBody>
      </p:sp>
      <p:sp>
        <p:nvSpPr>
          <p:cNvPr id="32" name="Rounded Rectangle 31"/>
          <p:cNvSpPr/>
          <p:nvPr/>
        </p:nvSpPr>
        <p:spPr>
          <a:xfrm>
            <a:off x="7315200" y="4012387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3" name="TextBox 32"/>
          <p:cNvSpPr txBox="1"/>
          <p:nvPr/>
        </p:nvSpPr>
        <p:spPr>
          <a:xfrm>
            <a:off x="7498079" y="4094683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需语音级审计、护栏重做</a:t>
            </a:r>
          </a:p>
        </p:txBody>
      </p:sp>
      <p:sp>
        <p:nvSpPr>
          <p:cNvPr id="34" name="Rounded Rectangle 33"/>
          <p:cNvSpPr/>
          <p:nvPr/>
        </p:nvSpPr>
        <p:spPr>
          <a:xfrm>
            <a:off x="640080" y="4494276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5" name="TextBox 34"/>
          <p:cNvSpPr txBox="1"/>
          <p:nvPr/>
        </p:nvSpPr>
        <p:spPr>
          <a:xfrm>
            <a:off x="640080" y="4585716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成本</a:t>
            </a:r>
          </a:p>
        </p:txBody>
      </p:sp>
      <p:sp>
        <p:nvSpPr>
          <p:cNvPr id="36" name="Rounded Rectangle 35"/>
          <p:cNvSpPr/>
          <p:nvPr/>
        </p:nvSpPr>
        <p:spPr>
          <a:xfrm>
            <a:off x="2926080" y="4494276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7" name="TextBox 36"/>
          <p:cNvSpPr txBox="1"/>
          <p:nvPr/>
        </p:nvSpPr>
        <p:spPr>
          <a:xfrm>
            <a:off x="3108960" y="4576572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$0.01–0.17/分钟，可预测</a:t>
            </a:r>
          </a:p>
        </p:txBody>
      </p:sp>
      <p:sp>
        <p:nvSpPr>
          <p:cNvPr id="38" name="Rounded Rectangle 37"/>
          <p:cNvSpPr/>
          <p:nvPr/>
        </p:nvSpPr>
        <p:spPr>
          <a:xfrm>
            <a:off x="7315200" y="4494276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9" name="TextBox 38"/>
          <p:cNvSpPr txBox="1"/>
          <p:nvPr/>
        </p:nvSpPr>
        <p:spPr>
          <a:xfrm>
            <a:off x="7498079" y="4576572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两端差百倍（$0.002–0.30）</a:t>
            </a:r>
          </a:p>
        </p:txBody>
      </p:sp>
      <p:sp>
        <p:nvSpPr>
          <p:cNvPr id="40" name="Rounded Rectangle 39"/>
          <p:cNvSpPr/>
          <p:nvPr/>
        </p:nvSpPr>
        <p:spPr>
          <a:xfrm>
            <a:off x="640080" y="4976164"/>
            <a:ext cx="2194560" cy="434340"/>
          </a:xfrm>
          <a:prstGeom prst="roundRect">
            <a:avLst>
              <a:gd name="adj" fmla="val 4000"/>
            </a:avLst>
          </a:prstGeom>
          <a:solidFill>
            <a:srgbClr val="0B2540"/>
          </a:solidFill>
          <a:ln w="12700">
            <a:solidFill>
              <a:srgbClr val="0B2540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1" name="TextBox 40"/>
          <p:cNvSpPr txBox="1"/>
          <p:nvPr/>
        </p:nvSpPr>
        <p:spPr>
          <a:xfrm>
            <a:off x="640080" y="5067604"/>
            <a:ext cx="2194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ctr"/>
            <a:r>
              <a:rPr sz="1150" b="1" i="0">
                <a:solidFill>
                  <a:srgbClr val="FFFFFF"/>
                </a:solidFill>
                <a:latin typeface="Calibri"/>
                <a:ea typeface="Calibri"/>
              </a:rPr>
              <a:t>2026 现状</a:t>
            </a:r>
          </a:p>
        </p:txBody>
      </p:sp>
      <p:sp>
        <p:nvSpPr>
          <p:cNvPr id="42" name="Rounded Rectangle 41"/>
          <p:cNvSpPr/>
          <p:nvPr/>
        </p:nvSpPr>
        <p:spPr>
          <a:xfrm>
            <a:off x="2926080" y="4976164"/>
            <a:ext cx="4297680" cy="434340"/>
          </a:xfrm>
          <a:prstGeom prst="roundRect">
            <a:avLst>
              <a:gd name="adj" fmla="val 4000"/>
            </a:avLst>
          </a:prstGeom>
          <a:solidFill>
            <a:srgbClr val="F3F8FA"/>
          </a:solidFill>
          <a:ln w="12700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3" name="TextBox 42"/>
          <p:cNvSpPr txBox="1"/>
          <p:nvPr/>
        </p:nvSpPr>
        <p:spPr>
          <a:xfrm>
            <a:off x="3108960" y="5058460"/>
            <a:ext cx="397764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企业生产主流</a:t>
            </a:r>
          </a:p>
        </p:txBody>
      </p:sp>
      <p:sp>
        <p:nvSpPr>
          <p:cNvPr id="44" name="Rounded Rectangle 43"/>
          <p:cNvSpPr/>
          <p:nvPr/>
        </p:nvSpPr>
        <p:spPr>
          <a:xfrm>
            <a:off x="7315200" y="4976164"/>
            <a:ext cx="4233672" cy="434340"/>
          </a:xfrm>
          <a:prstGeom prst="roundRect">
            <a:avLst>
              <a:gd name="adj" fmla="val 4000"/>
            </a:avLst>
          </a:prstGeom>
          <a:solidFill>
            <a:srgbClr val="F1ECF7"/>
          </a:solidFill>
          <a:ln w="12700">
            <a:solidFill>
              <a:srgbClr val="6B469C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5" name="TextBox 44"/>
          <p:cNvSpPr txBox="1"/>
          <p:nvPr/>
        </p:nvSpPr>
        <p:spPr>
          <a:xfrm>
            <a:off x="7498079" y="5058460"/>
            <a:ext cx="3913632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消费级助手与 demo 先用</a:t>
            </a:r>
          </a:p>
        </p:txBody>
      </p:sp>
      <p:sp>
        <p:nvSpPr>
          <p:cNvPr id="46" name="Rounded Rectangle 45"/>
          <p:cNvSpPr/>
          <p:nvPr/>
        </p:nvSpPr>
        <p:spPr>
          <a:xfrm>
            <a:off x="640080" y="5596128"/>
            <a:ext cx="10908792" cy="667512"/>
          </a:xfrm>
          <a:prstGeom prst="roundRect">
            <a:avLst>
              <a:gd name="adj" fmla="val 4000"/>
            </a:avLst>
          </a:prstGeom>
          <a:solidFill>
            <a:srgbClr val="E6F2EA"/>
          </a:solidFill>
          <a:ln w="12700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7" name="TextBox 46"/>
          <p:cNvSpPr txBox="1"/>
          <p:nvPr/>
        </p:nvSpPr>
        <p:spPr>
          <a:xfrm>
            <a:off x="914400" y="5687568"/>
            <a:ext cx="10424160" cy="5486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27500A"/>
                </a:solidFill>
                <a:latin typeface="Calibri"/>
                <a:ea typeface="Calibri"/>
              </a:rPr>
              <a:t>售前答法：</a:t>
            </a: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理由要说得出口——可审计、可换供应商、成本可预测 → 级联；极致低延迟、消费级体验 → 端到端。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49" name="TextBox 48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语音与实时交互</a:t>
            </a:r>
          </a:p>
        </p:txBody>
      </p:sp>
    </p:spTree>
  </p:cSld>
  <p:clrMapOvr>
    <a:masterClrMapping/>
  </p:clrMapOvr>
</p:sld>
</file>

<file path=ppt/slides/slide10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来源与核实 · SOURCES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600" b="1" i="0">
                <a:solidFill>
                  <a:srgbClr val="1A2733"/>
                </a:solidFill>
                <a:latin typeface="Cambria"/>
                <a:ea typeface="Cambria"/>
              </a:rPr>
              <a:t>本册来源与核实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298448"/>
            <a:ext cx="1115568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本册时效性数字均经联网核实后写入；完整登记（事实 × 核实日期 × 信源）见本模块 MANIFEST.md。以下为各章关键信源一览。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1847088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第4章 · 理解侧能力盘点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520440" y="1847088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openai.com / deepmind.google / platform.claude.com 模型页；QwenLM、OpenGVLab GitHub（08-01 复核）</a:t>
            </a:r>
          </a:p>
        </p:txBody>
      </p:sp>
      <p:sp>
        <p:nvSpPr>
          <p:cNvPr id="8" name="Rectangle 7"/>
          <p:cNvSpPr/>
          <p:nvPr/>
        </p:nvSpPr>
        <p:spPr>
          <a:xfrm>
            <a:off x="502920" y="2304288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502920" y="2359152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第5章 · 生成侧能力盘点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3520440" y="2359152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Modelize / DualView / Curify 2026；nanobananafree / Picsart 2026</a:t>
            </a:r>
          </a:p>
        </p:txBody>
      </p:sp>
      <p:sp>
        <p:nvSpPr>
          <p:cNvPr id="11" name="Rectangle 10"/>
          <p:cNvSpPr/>
          <p:nvPr/>
        </p:nvSpPr>
        <p:spPr>
          <a:xfrm>
            <a:off x="502920" y="2816352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502920" y="2871216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第6章 · 选型与动手做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520440" y="2871216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Spheron 部署指南 2026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3328416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3383280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第7章 · 生产落地与坑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520440" y="3383280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2026 VLM 评测综述</a:t>
            </a:r>
          </a:p>
        </p:txBody>
      </p:sp>
      <p:sp>
        <p:nvSpPr>
          <p:cNvPr id="17" name="Rectangle 16"/>
          <p:cNvSpPr/>
          <p:nvPr/>
        </p:nvSpPr>
        <p:spPr>
          <a:xfrm>
            <a:off x="502920" y="3840480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502920" y="3895344"/>
            <a:ext cx="2880360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第8章 · 语音与实时交互</a:t>
            </a:r>
          </a:p>
        </p:txBody>
      </p:sp>
      <p:sp>
        <p:nvSpPr>
          <p:cNvPr id="19" name="TextBox 18"/>
          <p:cNvSpPr txBox="1"/>
          <p:nvPr/>
        </p:nvSpPr>
        <p:spPr>
          <a:xfrm>
            <a:off x="3520440" y="3895344"/>
            <a:ext cx="8183879" cy="493776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050" b="0" i="0">
                <a:solidFill>
                  <a:srgbClr val="51606E"/>
                </a:solidFill>
                <a:latin typeface="Calibri"/>
                <a:ea typeface="Calibri"/>
              </a:rPr>
              <a:t>softcery / telnyx 2026 横评；developers.openai.com 模型与定价页、QwenLM GitHub（08-01 复核）</a:t>
            </a:r>
          </a:p>
        </p:txBody>
      </p:sp>
      <p:sp>
        <p:nvSpPr>
          <p:cNvPr id="20" name="Rectangle 19"/>
          <p:cNvSpPr/>
          <p:nvPr/>
        </p:nvSpPr>
        <p:spPr>
          <a:xfrm>
            <a:off x="502920" y="4352544"/>
            <a:ext cx="11183112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1" name="Rounded Rectangle 20"/>
          <p:cNvSpPr/>
          <p:nvPr/>
        </p:nvSpPr>
        <p:spPr>
          <a:xfrm>
            <a:off x="502920" y="5943600"/>
            <a:ext cx="11183112" cy="438912"/>
          </a:xfrm>
          <a:prstGeom prst="roundRect">
            <a:avLst>
              <a:gd name="adj" fmla="val 16000"/>
            </a:avLst>
          </a:prstGeom>
          <a:solidFill>
            <a:srgbClr val="F3F8FA"/>
          </a:solidFill>
          <a:ln w="12700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  <a:r>
              <a:rPr sz="1050" b="1" i="0">
                <a:solidFill>
                  <a:srgbClr val="0E4D64"/>
                </a:solidFill>
                <a:latin typeface="Calibri"/>
                <a:ea typeface="Calibri"/>
              </a:rPr>
              <a:t>核实窗口 2026-07-09 至 08-01（第 4/8/9 章 08-01 复核）　·　保鲜机制：季度巡检（每年 1/4/7/10 月）＋ 建议复查日定点复查　·　引用任何数字前先核日期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来源与核实</a:t>
            </a:r>
          </a:p>
        </p:txBody>
      </p:sp>
    </p:spTree>
  </p:cSld>
  <p:clrMapOvr>
    <a:masterClrMapping/>
  </p:clrMapOvr>
</p:sld>
</file>

<file path=ppt/slides/slide10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本章小结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本章小结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60020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三家三王牌：Seedance 2.0 创意控制、可灵 3.0 性价比＋4K 直出、Veo 3.1 电影级质感——Sora 已退场，名单月度在变，引用先核日期。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624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成本按秒计：Veo 官方 $0.05–$0.60/秒，同族十倍档差；分层用法（Fast 拼量＋高保真保质）是性价比来源。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6484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工作流四步：生成→审核→标识→分发；标识是法定义务，出口打标、链路保真。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6725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lnSpc>
                <a:spcPct val="115000"/>
              </a:lnSpc>
            </a:pPr>
            <a:r>
              <a:rPr sz="1300" b="1" i="0">
                <a:solidFill>
                  <a:srgbClr val="2F855A"/>
                </a:solidFill>
                <a:latin typeface="Calibri"/>
                <a:ea typeface="Calibri"/>
              </a:rPr>
              <a:t>✓ </a:t>
            </a:r>
            <a:r>
              <a:rPr sz="1300" b="0" i="0">
                <a:solidFill>
                  <a:srgbClr val="1A2733"/>
                </a:solidFill>
                <a:latin typeface="Calibri"/>
                <a:ea typeface="Calibri"/>
              </a:rPr>
              <a:t>对客设预期：素材工厂而非成片机器——留后期工位、前置合规，比事后补救便宜两个量级。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0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客户会怎么问（面试题）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500" b="1" i="0">
                <a:solidFill>
                  <a:srgbClr val="1A2733"/>
                </a:solidFill>
                <a:latin typeface="Cambria"/>
                <a:ea typeface="Cambria"/>
              </a:rPr>
              <a:t>现场最可能被追问的五个问题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视频生成到底能不能商用了？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素材级商用已经成立（营销/社媒/预演），成片级还要人工后期；对客设预期：它是「素材工厂」，不是「成片机器」。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2450592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这几家模型选哪个？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按用途分层：批量素材 Fast 档（Seedance/可灵）、长叙事靠故事板续接、品牌大片 Veo 3.1/可灵 4K——多数项目两档混用。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3419856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成本怎么估？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按「可用成片秒数 × 2–3 倍余量 × 每秒单价」估；Fast 档一条 15 秒素材是个位数人民币，真正的成本在筛选与后期人力。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4389120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生成的视频要打标吗？不打会怎样？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要：2025-09 起显式+隐式标识都是法定义务，已有产品因此下架；把打标做成生成出口的默认输出（Security 第 8 章）。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5358384"/>
            <a:ext cx="1115568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200" b="1" i="0">
                <a:solidFill>
                  <a:srgbClr val="993C1D"/>
                </a:solidFill>
                <a:latin typeface="Calibri"/>
                <a:ea typeface="Calibri"/>
              </a:rPr>
              <a:t>Q　</a:t>
            </a:r>
            <a:r>
              <a:rPr sz="1200" b="1" i="0">
                <a:solidFill>
                  <a:srgbClr val="1A2733"/>
                </a:solidFill>
                <a:latin typeface="Calibri"/>
                <a:ea typeface="Calibri"/>
              </a:rPr>
              <a:t>人物一致性能保证吗？</a:t>
            </a:r>
          </a:p>
          <a:p>
            <a:r>
              <a:rPr sz="1100" b="1" i="0">
                <a:solidFill>
                  <a:srgbClr val="2F855A"/>
                </a:solidFill>
                <a:latin typeface="Calibri"/>
                <a:ea typeface="Calibri"/>
              </a:rPr>
              <a:t>A　</a:t>
            </a:r>
            <a:r>
              <a:rPr sz="1100" b="0" i="0">
                <a:solidFill>
                  <a:srgbClr val="51606E"/>
                </a:solidFill>
                <a:latin typeface="Calibri"/>
                <a:ea typeface="Calibri"/>
              </a:rPr>
              <a:t>跨镜头一致仍是行业难题；用参考输入（Seedance 可挂 9 图 3 视频 3 音频）＋首尾帧控制能大幅收敛，但严肃 IP 形象建议数字人管线（SP 第 7 章）。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动手做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动手做 · HANDS-ON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17320"/>
            <a:ext cx="11201400" cy="14630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任务（15 分钟）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客户画像：一家消费品牌，要为新品做 30 条 15 秒社媒短视频素材，预算 5000 元，两周交付，需过内容审核并合规分发。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50" b="0" i="0">
                <a:solidFill>
                  <a:srgbClr val="1A2733"/>
                </a:solidFill>
                <a:latin typeface="Calibri"/>
                <a:ea typeface="Calibri"/>
              </a:rPr>
              <a:t>请给出：① 模型与档位选择（对着第 4/5 页的表报价）；② 工作流四步各自的落点与工具；③ 一条合规提示。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02920" y="3108960"/>
            <a:ext cx="1115568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参考要点（先自己写，再对答案）：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31520" y="3520440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30 条 × 15 秒 = 450 成片秒；按 3 倍余量 ≈ 1350 生成秒，Lite/Fast 档（$0.05–0.12/秒）约 $70–160——预算大头其实在人工筛选与剪辑，不在生成；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31520" y="4197096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工作流：分镜脚本批量生成 → 平台审核 API + 人工抽检 → 生成出口打显式标识、导出保留元数据 → 分发；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731520" y="4873752"/>
            <a:ext cx="10881360" cy="65836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合规提示：素材含真人形象需授权链路；30 条全部带标识，转码环节验证元数据未丢失。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风险与合规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AI 视频的三条红线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内容标识（法定义务）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《AI 生成合成内容标识办法》2025-09-01 施行：显式标识＋隐式元数据双轨，配套强标 GB 45438-2025；已有 App 因标识违规被下架——生成出口就近打标，分发链路保留元数据。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502920" y="2688336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版权与肖像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训练素材版权、生成内容的权属、真人肖像/声音的授权三件事分开谈；商用素材优先选平台的「商业可用」承诺档，并留存生成记录。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95344"/>
            <a:ext cx="11201400" cy="10515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深度伪造滥用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人物换脸/仿声属深度合成强监管场景；对客方案里写明「真人相关内容需授权链路」，把滥用风险挡在产品设计层。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5148072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售前一句话：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「能不能做」之外先答「能不能播」——标识、版权、授权三件事在方案里前置，比事后补救便宜两个量级。合规细节见 Security 第 8 章。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落地工作流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从生成到分发：四步流水线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① 生成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文生/图生视频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分镜脚本→批量出素材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329183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② 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内容安全审核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(平台 API+人工抽检)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6080759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③ 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显式标识+元数据水印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(2025-09 起法定义务)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8869680" y="1481328"/>
            <a:ext cx="2606040" cy="123444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250" b="1" i="0">
                <a:solidFill>
                  <a:srgbClr val="5B4B8A"/>
                </a:solidFill>
                <a:latin typeface="Calibri"/>
                <a:ea typeface="Calibri"/>
              </a:rPr>
              <a:t>④ 分发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剪辑合成后保留标识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转码别洗掉元数据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297180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场景挂钩（详见 Solution-Patterns）：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31520" y="3346704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营销内容生成（SP 第 5 章）：短视频素材工厂——本章的 Fast 档批量能力直接对应「素材量产」诉求；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31520" y="3877056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数字人（SP 第 7 章）：口播视频的形象与口型链路；离线数字人可用视频生成做背景与分镜；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31520" y="4407408"/>
            <a:ext cx="10881360" cy="5029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影视/广告预演：分镜预览（previz）用低价档快速迭代，定稿后再上高保真档或实拍。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502920" y="5029200"/>
            <a:ext cx="11201400" cy="68580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串联：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审核与标识的合规依据在 Security 第 8 章「中国监管合规」；语音配音链路在本讲义第 8 章语音实时。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成本账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按秒计价：十倍档差怎么用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API 价格锚点（每秒）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Lite：$0.05/秒（720p，官方价）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Veo 3.1 标准：$0.40（1080p）/ $0.60（4K）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字节 Seedance / 快手可灵按积分计，另核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同一支片子，选型不同成本差一个量级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6217920" y="1481328"/>
            <a:ext cx="5486400" cy="210312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消费端口径（即梦）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注册送 260 积分；5 秒视频约 20 积分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（新用户约 13 次免费生成）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· 积分制适合试水与轻量创作，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  规模化生产回到 API 按秒计价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02920" y="384048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E6F2EA"/>
          </a:solidFill>
          <a:ln w="15875">
            <a:solidFill>
              <a:srgbClr val="2F855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2F855A"/>
                </a:solidFill>
                <a:latin typeface="Calibri"/>
                <a:ea typeface="Calibri"/>
              </a:rPr>
              <a:t>分层用法：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批量 A/B 素材走 Lite/Fast 档（$0.05–0.12/秒）拼量，品牌主片走高保真档（4K/原生音频）保质——同一项目两档混用，成本能压到纯高保真方案的几分之一。</a:t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02920" y="4846320"/>
            <a:ext cx="11201400" cy="731520"/>
          </a:xfrm>
          <a:prstGeom prst="roundRect">
            <a:avLst>
              <a:gd name="adj" fmla="val 12000"/>
            </a:avLst>
          </a:prstGeom>
          <a:solidFill>
            <a:srgbClr val="EAF3F5"/>
          </a:solidFill>
          <a:ln w="15875">
            <a:solidFill>
              <a:srgbClr val="12819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0E4D64"/>
                </a:solidFill>
                <a:latin typeface="Calibri"/>
                <a:ea typeface="Calibri"/>
              </a:rPr>
              <a:t>口径提醒：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按秒计价之外还有分辨率档位、生成失败重试、并发配额三个隐藏变量——报价按「可用成片秒数」而不是「生成秒数」估，通常要乘 1.5–3 倍余量。</a:t>
            </a:r>
          </a:p>
        </p:txBody>
      </p:sp>
      <p:sp>
        <p:nvSpPr>
          <p:cNvPr id="9" name="TextBox 8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格局盘点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三家旗舰一张表（2026-08 口径）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502920" y="1481328"/>
            <a:ext cx="265176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模型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3200400" y="1481328"/>
            <a:ext cx="457200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王牌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7818120" y="1481328"/>
            <a:ext cx="16916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时长/分辨率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55480" y="1481328"/>
            <a:ext cx="214884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200" b="1" i="0">
                <a:solidFill>
                  <a:srgbClr val="5B4B8A"/>
                </a:solidFill>
                <a:latin typeface="Calibri"/>
                <a:ea typeface="Calibri"/>
              </a:rPr>
              <a:t>价格（API）</a:t>
            </a:r>
          </a:p>
        </p:txBody>
      </p:sp>
      <p:sp>
        <p:nvSpPr>
          <p:cNvPr id="9" name="Rectangle 8"/>
          <p:cNvSpPr/>
          <p:nvPr/>
        </p:nvSpPr>
        <p:spPr>
          <a:xfrm>
            <a:off x="502920" y="1810512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502920" y="1865376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Seedance 2.0（字节/即梦）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3200400" y="1865376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创意控制：原生音视频同步；参考输入 12 文件（9图+3视频+3音频）同代最强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818120" y="1865376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1080p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9555480" y="1865376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Fast 档为价格带最低档，官网当期核价</a:t>
            </a:r>
          </a:p>
        </p:txBody>
      </p:sp>
      <p:sp>
        <p:nvSpPr>
          <p:cNvPr id="14" name="Rectangle 13"/>
          <p:cNvSpPr/>
          <p:nvPr/>
        </p:nvSpPr>
        <p:spPr>
          <a:xfrm>
            <a:off x="502920" y="2779776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502920" y="2834640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Sora 2（OpenAI）· 已退场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0" y="2834640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消费端 2026-04-26 停服、API 2026-09-24 下线，别再进方案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7818120" y="2834640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03-24 公告下线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9555480" y="2834640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已退场</a:t>
            </a:r>
          </a:p>
        </p:txBody>
      </p:sp>
      <p:sp>
        <p:nvSpPr>
          <p:cNvPr id="19" name="Rectangle 18"/>
          <p:cNvSpPr/>
          <p:nvPr/>
        </p:nvSpPr>
        <p:spPr>
          <a:xfrm>
            <a:off x="502920" y="3749040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502920" y="3803904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可灵 Kling 3.0（快手）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3200400" y="3803904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性价比＋原生 4K 直出（2026-04 起）；3.0 Turbo 档已上线；有免费版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818120" y="3803904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≤15s / 4K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9555480" y="3803904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官网按积分计，当期核价</a:t>
            </a:r>
          </a:p>
        </p:txBody>
      </p:sp>
      <p:sp>
        <p:nvSpPr>
          <p:cNvPr id="24" name="Rectangle 23"/>
          <p:cNvSpPr/>
          <p:nvPr/>
        </p:nvSpPr>
        <p:spPr>
          <a:xfrm>
            <a:off x="502920" y="4718304"/>
            <a:ext cx="11155680" cy="11430"/>
          </a:xfrm>
          <a:prstGeom prst="rect">
            <a:avLst/>
          </a:prstGeom>
          <a:solidFill>
            <a:srgbClr val="D6E1E8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502920" y="4773168"/>
            <a:ext cx="265176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150" b="1" i="0">
                <a:solidFill>
                  <a:srgbClr val="5B4B8A"/>
                </a:solidFill>
                <a:latin typeface="Calibri"/>
                <a:ea typeface="Calibri"/>
              </a:rPr>
              <a:t>Veo 3.1（Google）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3200400" y="4773168"/>
            <a:ext cx="45720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电影级质感＋原生音频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818120" y="4773168"/>
            <a:ext cx="16916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4K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555480" y="4773168"/>
            <a:ext cx="214884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官方 $0.40/秒（1080p）、$0.60/秒（4K）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502920" y="5760720"/>
            <a:ext cx="11155680" cy="384048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00" b="1" i="0">
                <a:solidFill>
                  <a:srgbClr val="993C1D"/>
                </a:solidFill>
                <a:latin typeface="Calibri"/>
                <a:ea typeface="Calibri"/>
              </a:rPr>
              <a:t>Sora 退场后格局重组中，补位候选看 Runway Gen-4.5、阿里万相（Wan）；名单月度在变——引用本表前先核日期（本章事实登记于 MANIFEST）。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三大难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视频为什么难：时长、一致性、可控性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02920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时长 DURATION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每多一秒都是算力与连贯性的双重代价；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当前旗舰单次常规十秒上下，想更长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只能靠续接——「分镜拼接」是主流解法</a:t>
            </a:r>
          </a:p>
        </p:txBody>
      </p:sp>
      <p:sp>
        <p:nvSpPr>
          <p:cNvPr id="6" name="Rounded Rectangle 5"/>
          <p:cNvSpPr/>
          <p:nvPr/>
        </p:nvSpPr>
        <p:spPr>
          <a:xfrm>
            <a:off x="4279392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一致性 CONSISTENCY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人物/场景跨镜头保持同一是最大痛点；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参考输入（Seedance 2.0 可挂 9 图 3 视频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3 音频）与首尾帧控制是两条主修路线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8055863" y="1481328"/>
            <a:ext cx="3611880" cy="1965960"/>
          </a:xfrm>
          <a:prstGeom prst="roundRect">
            <a:avLst>
              <a:gd name="adj" fmla="val 7000"/>
            </a:avLst>
          </a:prstGeom>
          <a:solidFill>
            <a:srgbClr val="F1ECF7"/>
          </a:solidFill>
          <a:ln w="15875">
            <a:solidFill>
              <a:srgbClr val="5B4B8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t" wrap="square" tIns="64008"/>
          <a:lstStyle/>
          <a:p>
            <a:pPr algn="ctr">
              <a:lnSpc>
                <a:spcPct val="105000"/>
              </a:lnSpc>
              <a:spcAft>
                <a:spcPts val="300"/>
              </a:spcAft>
            </a:pPr>
            <a:r>
              <a:rPr sz="1300" b="1" i="0">
                <a:solidFill>
                  <a:srgbClr val="5B4B8A"/>
                </a:solidFill>
                <a:latin typeface="Calibri"/>
                <a:ea typeface="Calibri"/>
              </a:rPr>
              <a:t>可控性 CONTROL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文字提示词对镜头语言的控制力有限；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故事板、运镜指令、图生视频让「导演意图」</a:t>
            </a:r>
          </a:p>
          <a:p>
            <a:pPr>
              <a:lnSpc>
                <a:spcPct val="108000"/>
              </a:lnSpc>
              <a:spcAft>
                <a:spcPts val="200"/>
              </a:spcAft>
            </a:pPr>
            <a:r>
              <a:rPr sz="1050" b="0" i="0">
                <a:solidFill>
                  <a:srgbClr val="1A2733"/>
                </a:solidFill>
                <a:latin typeface="Calibri"/>
                <a:ea typeface="Calibri"/>
              </a:rPr>
              <a:t>可以显式传达——控制力=专业市场门票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02920" y="3703320"/>
            <a:ext cx="11155680" cy="3200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技术底座：扩散 Transformer（DiT）是当前主流路线，自回归路线在长时序与音画同步上持续发力——两条路线之争与图像侧（第 5 章）同源。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502920" y="4206240"/>
            <a:ext cx="11201400" cy="777240"/>
          </a:xfrm>
          <a:prstGeom prst="roundRect">
            <a:avLst>
              <a:gd name="adj" fmla="val 12000"/>
            </a:avLst>
          </a:prstGeom>
          <a:solidFill>
            <a:srgbClr val="FBF0E6"/>
          </a:solidFill>
          <a:ln w="15875">
            <a:solidFill>
              <a:srgbClr val="993C1D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 lIns="109728" rIns="109728"/>
          <a:lstStyle/>
          <a:p>
            <a:pPr algn="ctr">
              <a:lnSpc>
                <a:spcPct val="106000"/>
              </a:lnSpc>
            </a:pPr>
            <a:r>
              <a:rPr sz="1150" b="1" i="0">
                <a:solidFill>
                  <a:srgbClr val="993C1D"/>
                </a:solidFill>
                <a:latin typeface="Calibri"/>
                <a:ea typeface="Calibri"/>
              </a:rPr>
              <a:t>对客设预期：</a:t>
            </a:r>
            <a:r>
              <a:rPr sz="1100" b="0" i="0">
                <a:solidFill>
                  <a:srgbClr val="1A2733"/>
                </a:solidFill>
                <a:latin typeface="Calibri"/>
                <a:ea typeface="Calibri"/>
              </a:rPr>
              <a:t>视频生成适合「创意/草稿/素材」——广告 A/B 素材、分镜预演、社媒短内容；「一次成片、零后期」的严肃交付还不是 2026 的现实，方案里要留后期工位。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FEFEFE"/>
          </a:solidFill>
          <a:ln w="9525">
            <a:solidFill>
              <a:srgbClr val="FEFEFE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502920" y="292608"/>
            <a:ext cx="10789920" cy="36576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300" b="1" i="0">
                <a:solidFill>
                  <a:srgbClr val="128199"/>
                </a:solidFill>
                <a:latin typeface="Calibri"/>
                <a:ea typeface="Calibri"/>
              </a:rPr>
              <a:t>第 9 章 · 视频生成 · 学习目标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02920" y="603504"/>
            <a:ext cx="11155680" cy="868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2700" b="1" i="0">
                <a:solidFill>
                  <a:srgbClr val="1A2733"/>
                </a:solidFill>
                <a:latin typeface="Cambria"/>
                <a:ea typeface="Cambria"/>
              </a:rPr>
              <a:t>学完这一章，你能对客户讲清楚</a:t>
            </a:r>
          </a:p>
        </p:txBody>
      </p:sp>
      <p:sp>
        <p:nvSpPr>
          <p:cNvPr id="5" name="Oval 4"/>
          <p:cNvSpPr/>
          <p:nvPr/>
        </p:nvSpPr>
        <p:spPr>
          <a:xfrm>
            <a:off x="594360" y="1600200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1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188720" y="1545336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三家旗舰各主什么牌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Seedance 2.0＝创意控制与多模态输入；可灵 3.0＝性价比与原生 4K 直出；Veo 3.1＝电影级质感与原生音频——Sora 退场后格局重组中</a:t>
            </a:r>
          </a:p>
        </p:txBody>
      </p:sp>
      <p:sp>
        <p:nvSpPr>
          <p:cNvPr id="7" name="Oval 6"/>
          <p:cNvSpPr/>
          <p:nvPr/>
        </p:nvSpPr>
        <p:spPr>
          <a:xfrm>
            <a:off x="594360" y="2679191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2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1188720" y="2624327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时长/一致性/可控性三大难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为什么视频比图像难一个量级——以及厂商各自用什么招（故事板、首尾帧、参考输入）绕过它</a:t>
            </a:r>
          </a:p>
        </p:txBody>
      </p:sp>
      <p:sp>
        <p:nvSpPr>
          <p:cNvPr id="9" name="Oval 8"/>
          <p:cNvSpPr/>
          <p:nvPr/>
        </p:nvSpPr>
        <p:spPr>
          <a:xfrm>
            <a:off x="594360" y="3758183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3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188720" y="3703320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按秒计价的成本账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Veo 官方 $0.05–$0.60/秒的十倍档差从哪来；快速档 vs 高保真档怎么按用途分层报价</a:t>
            </a:r>
          </a:p>
        </p:txBody>
      </p:sp>
      <p:sp>
        <p:nvSpPr>
          <p:cNvPr id="11" name="Oval 10"/>
          <p:cNvSpPr/>
          <p:nvPr/>
        </p:nvSpPr>
        <p:spPr>
          <a:xfrm>
            <a:off x="594360" y="4837175"/>
            <a:ext cx="384048" cy="384048"/>
          </a:xfrm>
          <a:prstGeom prst="ellipse">
            <a:avLst/>
          </a:prstGeom>
          <a:solidFill>
            <a:srgbClr val="5B4B8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400" b="1" i="0">
                <a:solidFill>
                  <a:srgbClr val="FFFFFF"/>
                </a:solidFill>
                <a:latin typeface="Calibri"/>
                <a:ea typeface="Calibri"/>
              </a:rPr>
              <a:t>4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188720" y="4782312"/>
            <a:ext cx="10424160" cy="100584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>
              <a:spcAft>
                <a:spcPts val="200"/>
              </a:spcAft>
            </a:pPr>
            <a:r>
              <a:rPr sz="1400" b="1" i="0">
                <a:solidFill>
                  <a:srgbClr val="1A2733"/>
                </a:solidFill>
                <a:latin typeface="Calibri"/>
                <a:ea typeface="Calibri"/>
              </a:rPr>
              <a:t>落地工作流与合规</a:t>
            </a:r>
          </a:p>
          <a:p>
            <a:r>
              <a:rPr sz="1150" b="0" i="0">
                <a:solidFill>
                  <a:srgbClr val="51606E"/>
                </a:solidFill>
                <a:latin typeface="Calibri"/>
                <a:ea typeface="Calibri"/>
              </a:rPr>
              <a:t>生成→审核→标识→分发四步流水线；AI 生成视频的标识义务（2025-09 起）与版权边界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0C3A4C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1005840" y="1371600"/>
            <a:ext cx="1371600" cy="512064"/>
          </a:xfrm>
          <a:prstGeom prst="rect">
            <a:avLst/>
          </a:prstGeom>
          <a:solidFill>
            <a:srgbClr val="F2A6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r>
              <a:rPr sz="1500" b="1" i="0">
                <a:solidFill>
                  <a:srgbClr val="0C3A4C"/>
                </a:solidFill>
                <a:latin typeface="Calibri"/>
                <a:ea typeface="Calibri"/>
              </a:rPr>
              <a:t>第 9 章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1005840" y="2103120"/>
            <a:ext cx="10058400" cy="9144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3400" b="1" i="0">
                <a:solidFill>
                  <a:srgbClr val="FFFFFF"/>
                </a:solidFill>
                <a:latin typeface="Cambria"/>
                <a:ea typeface="Cambria"/>
              </a:rPr>
              <a:t>视频生成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1005840" y="3063240"/>
            <a:ext cx="10058400" cy="45720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1800" b="0" i="0">
                <a:solidFill>
                  <a:srgbClr val="9FC4D4"/>
                </a:solidFill>
                <a:latin typeface="Cambria"/>
                <a:ea typeface="Cambria"/>
              </a:rPr>
              <a:t>Video Generation · 生成侧的下半场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1005840" y="3794760"/>
            <a:ext cx="10241280" cy="201168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第 5 章把「文生视频」讲到了门口，这一章走进去：三家旗舰谁主什么牌、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按秒计价的成本账怎么算（同一家的档位就差十倍）、素材怎么走完「生成→审核→标识→分发」的流水线。</a:t>
            </a:r>
          </a:p>
          <a:p>
            <a:pPr algn="l"/>
            <a:r>
              <a:rPr sz="1300" b="0" i="0">
                <a:solidFill>
                  <a:srgbClr val="C9DDE8"/>
                </a:solidFill>
                <a:latin typeface="Calibri"/>
                <a:ea typeface="Calibri"/>
              </a:rPr>
              <a:t>对客设预期依然是那句话：适合创意/草稿/素材，还不适合「一次成片、零后期」。数字为 2026-08-01 口径。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02920" y="6473952"/>
            <a:ext cx="640080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多模态讲义 · Multimodal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223760" y="6473952"/>
            <a:ext cx="4480560" cy="274320"/>
          </a:xfrm>
          <a:prstGeom prst="rect">
            <a:avLst/>
          </a:prstGeom>
          <a:noFill/>
        </p:spPr>
        <p:txBody>
          <a:bodyPr wrap="square" lIns="45720" rIns="45720" tIns="18288" bIns="18288">
            <a:spAutoFit/>
          </a:bodyPr>
          <a:lstStyle/>
          <a:p>
            <a:pPr algn="r"/>
            <a:r>
              <a:rPr sz="900" b="0" i="0">
                <a:solidFill>
                  <a:srgbClr val="51606E"/>
                </a:solidFill>
                <a:latin typeface="Calibri"/>
                <a:ea typeface="Calibri"/>
              </a:rPr>
              <a:t>视频生成</a:t>
            </a:r>
          </a:p>
        </p:txBody>
      </p:sp>
    </p:spTree>
  </p:cSld>
  <p:clrMapOvr>
    <a:masterClrMapping/>
  </p:clrMapOvr>
</p:sld>
</file>

<file path=ppt/slides/slide11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TextBox 1"/>
          <p:cNvSpPr txBox="1"/>
          <p:nvPr/>
        </p:nvSpPr>
        <p:spPr>
          <a:xfrm>
            <a:off x="566927" y="201167"/>
            <a:ext cx="105155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050" b="1">
                <a:solidFill>
                  <a:srgbClr val="128199"/>
                </a:solidFill>
                <a:latin typeface="Calibri"/>
              </a:rPr>
              <a:t>售前速查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566927" y="457199"/>
            <a:ext cx="11057839" cy="86867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2800" b="1">
                <a:solidFill>
                  <a:srgbClr val="1A2733"/>
                </a:solidFill>
                <a:latin typeface="Cambria"/>
              </a:rPr>
              <a:t>上云追问卡：顺着追问什么 · 云替你做不了什么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566927" y="1033271"/>
            <a:ext cx="11057839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100" b="0">
                <a:solidFill>
                  <a:srgbClr val="51606E"/>
                </a:solidFill>
                <a:latin typeface="Calibri"/>
              </a:rPr>
              <a:t>云服务清单答的是「有什么」，这张卡答的是「当场该问什么、哪些事别答应」。</a:t>
            </a:r>
          </a:p>
        </p:txBody>
      </p:sp>
      <p:sp>
        <p:nvSpPr>
          <p:cNvPr id="5" name="Rounded Rectangle 4"/>
          <p:cNvSpPr/>
          <p:nvPr/>
        </p:nvSpPr>
        <p:spPr>
          <a:xfrm>
            <a:off x="566927" y="1472183"/>
            <a:ext cx="2211567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6" name="TextBox 5"/>
          <p:cNvSpPr txBox="1"/>
          <p:nvPr/>
        </p:nvSpPr>
        <p:spPr>
          <a:xfrm>
            <a:off x="640079" y="1508759"/>
            <a:ext cx="2065263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落地阶段</a:t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2778495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8" name="TextBox 7"/>
          <p:cNvSpPr txBox="1"/>
          <p:nvPr/>
        </p:nvSpPr>
        <p:spPr>
          <a:xfrm>
            <a:off x="2851647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顺着追问什么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7201631" y="1472183"/>
            <a:ext cx="4423135" cy="310895"/>
          </a:xfrm>
          <a:prstGeom prst="roundRect">
            <a:avLst/>
          </a:prstGeom>
          <a:solidFill>
            <a:srgbClr val="12819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274783" y="1508759"/>
            <a:ext cx="4276831" cy="310895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1200" b="1">
                <a:solidFill>
                  <a:srgbClr val="FFFFFF"/>
                </a:solidFill>
                <a:latin typeface="Calibri"/>
              </a:rPr>
              <a:t>云替你做不了什么</a:t>
            </a:r>
          </a:p>
        </p:txBody>
      </p:sp>
      <p:sp>
        <p:nvSpPr>
          <p:cNvPr id="11" name="Rounded Rectangle 10"/>
          <p:cNvSpPr/>
          <p:nvPr/>
        </p:nvSpPr>
        <p:spPr>
          <a:xfrm>
            <a:off x="566927" y="1828799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2" name="TextBox 11"/>
          <p:cNvSpPr txBox="1"/>
          <p:nvPr/>
        </p:nvSpPr>
        <p:spPr>
          <a:xfrm>
            <a:off x="649223" y="1892807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按能力环节挑服务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2778495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2860791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固定版式的单据占多少，要开放问答的疑难件占多少？数据能不能出域——直接决定托管 API 还是自建？</a:t>
            </a:r>
          </a:p>
        </p:txBody>
      </p:sp>
      <p:sp>
        <p:nvSpPr>
          <p:cNvPr id="15" name="Rounded Rectangle 14"/>
          <p:cNvSpPr/>
          <p:nvPr/>
        </p:nvSpPr>
        <p:spPr>
          <a:xfrm>
            <a:off x="7201631" y="1828799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6" name="TextBox 15"/>
          <p:cNvSpPr txBox="1"/>
          <p:nvPr/>
        </p:nvSpPr>
        <p:spPr>
          <a:xfrm>
            <a:off x="7283927" y="1892807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云把每个环节都备好服务，但「稳定字段走 OCR、疑难走多模态」那条线它不替你画，要自己实测。托管 API 省不掉数据出域和单价随量增长两笔账。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566927" y="2597657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18" name="TextBox 17"/>
          <p:cNvSpPr txBox="1"/>
          <p:nvPr/>
        </p:nvSpPr>
        <p:spPr>
          <a:xfrm>
            <a:off x="649223" y="2661665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实时语音链路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2778495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2860791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进生产前先问三件：接不接电话（要不要 SIP）、要不要私有化？合规要不要文字留痕——要就得走级联？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7201631" y="2597657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7283927" y="2661665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托管语音 agent 最快上线，替不了你测首音时延，先测基线再承诺。端到端 API 快，代价是中间没有文字可审计，护栏、质检、留痕要另做。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566927" y="3366515"/>
            <a:ext cx="2211567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4" name="TextBox 23"/>
          <p:cNvSpPr txBox="1"/>
          <p:nvPr/>
        </p:nvSpPr>
        <p:spPr>
          <a:xfrm>
            <a:off x="649223" y="3430523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生成物出门</a:t>
            </a:r>
          </a:p>
        </p:txBody>
      </p:sp>
      <p:sp>
        <p:nvSpPr>
          <p:cNvPr id="25" name="Rounded Rectangle 24"/>
          <p:cNvSpPr/>
          <p:nvPr/>
        </p:nvSpPr>
        <p:spPr>
          <a:xfrm>
            <a:off x="2778495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6" name="TextBox 25"/>
          <p:cNvSpPr txBox="1"/>
          <p:nvPr/>
        </p:nvSpPr>
        <p:spPr>
          <a:xfrm>
            <a:off x="2860791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这些素材是内部用还是对外分发？里面有没有真人形象或声音，授权链路谁在管？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7201631" y="3366515"/>
            <a:ext cx="4423135" cy="713993"/>
          </a:xfrm>
          <a:prstGeom prst="roundRect">
            <a:avLst/>
          </a:prstGeom>
          <a:solidFill>
            <a:srgbClr val="F3F8FA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7283927" y="3430523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训练素材的版权、生成内容归谁、真人肖像与声音的授权，是要分开谈的三件事；平台给的只是「商业可用」承诺档，授权链路它不替你签，生成记录也得你自己留存。</a:t>
            </a:r>
          </a:p>
        </p:txBody>
      </p:sp>
      <p:sp>
        <p:nvSpPr>
          <p:cNvPr id="29" name="Rounded Rectangle 28"/>
          <p:cNvSpPr/>
          <p:nvPr/>
        </p:nvSpPr>
        <p:spPr>
          <a:xfrm>
            <a:off x="566927" y="4135373"/>
            <a:ext cx="2211567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0" name="TextBox 29"/>
          <p:cNvSpPr txBox="1"/>
          <p:nvPr/>
        </p:nvSpPr>
        <p:spPr>
          <a:xfrm>
            <a:off x="649223" y="4199381"/>
            <a:ext cx="2046975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200" b="1">
                <a:solidFill>
                  <a:srgbClr val="0E4D64"/>
                </a:solidFill>
                <a:latin typeface="Calibri"/>
              </a:rPr>
              <a:t>上线保障</a:t>
            </a:r>
          </a:p>
        </p:txBody>
      </p:sp>
      <p:sp>
        <p:nvSpPr>
          <p:cNvPr id="31" name="Rounded Rectangle 30"/>
          <p:cNvSpPr/>
          <p:nvPr/>
        </p:nvSpPr>
        <p:spPr>
          <a:xfrm>
            <a:off x="2778495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2" name="TextBox 31"/>
          <p:cNvSpPr txBox="1"/>
          <p:nvPr/>
        </p:nvSpPr>
        <p:spPr>
          <a:xfrm>
            <a:off x="2860791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上线前用真实图量做过 token 压测吗，分辨率上限定在多少？验收拿什么打分——有你们自己的图加标准答案吗？</a:t>
            </a:r>
          </a:p>
        </p:txBody>
      </p:sp>
      <p:sp>
        <p:nvSpPr>
          <p:cNvPr id="33" name="Rounded Rectangle 32"/>
          <p:cNvSpPr/>
          <p:nvPr/>
        </p:nvSpPr>
        <p:spPr>
          <a:xfrm>
            <a:off x="7201631" y="4135373"/>
            <a:ext cx="4423135" cy="713993"/>
          </a:xfrm>
          <a:prstGeom prst="roundRect">
            <a:avLst/>
          </a:prstGeom>
          <a:solidFill>
            <a:srgbClr val="EAF3F5"/>
          </a:solidFill>
          <a:ln w="9525">
            <a:solidFill>
              <a:srgbClr val="D6E1E8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 wrap="square"/>
          <a:lstStyle/>
          <a:p>
            <a:pPr algn="ctr"/>
          </a:p>
        </p:txBody>
      </p:sp>
      <p:sp>
        <p:nvSpPr>
          <p:cNvPr id="34" name="TextBox 33"/>
          <p:cNvSpPr txBox="1"/>
          <p:nvPr/>
        </p:nvSpPr>
        <p:spPr>
          <a:xfrm>
            <a:off x="7283927" y="4199381"/>
            <a:ext cx="4258543" cy="585977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18000"/>
              </a:lnSpc>
            </a:pPr>
            <a:r>
              <a:rPr sz="1100" b="0">
                <a:solidFill>
                  <a:srgbClr val="1A2733"/>
                </a:solidFill>
                <a:latin typeface="Calibri"/>
              </a:rPr>
              <a:t>云按视觉 token 计费，账单失控通常不是单价高，是「量 × 分辨率」没设上限——上限要当配置项定死。评估服务给的是打分工具，标准答案还得你出。</a:t>
            </a:r>
          </a:p>
        </p:txBody>
      </p:sp>
      <p:sp>
        <p:nvSpPr>
          <p:cNvPr id="35" name="TextBox 34"/>
          <p:cNvSpPr txBox="1"/>
          <p:nvPr/>
        </p:nvSpPr>
        <p:spPr>
          <a:xfrm>
            <a:off x="566927" y="6355079"/>
            <a:ext cx="7315199" cy="274319"/>
          </a:xfrm>
          <a:prstGeom prst="rect">
            <a:avLst/>
          </a:prstGeom>
          <a:noFill/>
        </p:spPr>
        <p:txBody>
          <a:bodyPr wrap="square">
            <a:spAutoFit/>
          </a:bodyPr>
          <a:lstStyle/>
          <a:p>
            <a:pPr algn="l">
              <a:lnSpc>
                <a:spcPct val="100000"/>
              </a:lnSpc>
            </a:pPr>
            <a:r>
              <a:rPr sz="900" b="0">
                <a:solidFill>
                  <a:srgbClr val="51606E"/>
                </a:solidFill>
                <a:latin typeface="Calibri"/>
              </a:rPr>
              <a:t>Multimodal 讲义 · 售前速查 · 上云追问卡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Application>Microsoft Macintosh PowerPoint</Application>
  <Slides>116</Slides>
  <ScaleCrop>false</ScaleCrop>
  <HeadingPairs>
    <vt:vector size="2" baseType="variant">
      <vt:variant>
        <vt:lpstr>幻灯片标题</vt:lpstr>
      </vt:variant>
      <vt:variant>
        <vt:i4>116</vt:i4>
      </vt:variant>
    </vt:vector>
  </HeadingPairs>
  <TitlesOfParts>
    <vt:vector size="116" baseType="lpstr">
      <vt:lpstr>多模态 · 让模型长出眼睛和耳朵</vt:lpstr>
      <vt:lpstr>是什么 / 为什么</vt:lpstr>
      <vt:lpstr>是什么 / 为什么</vt:lpstr>
      <vt:lpstr>学完这一章，你能讲清楚</vt:lpstr>
      <vt:lpstr>多模态：把「一种感官」变成「多种感官」</vt:lpstr>
      <vt:lpstr>三个拐点，让多模态从「实验室」走进「生产」</vt:lpstr>
      <vt:lpstr>把「多模态」拆开：每种模态都有理解和生成两面</vt:lpstr>
      <vt:lpstr>什么时候该上多模态，什么时候别硬上</vt:lpstr>
      <vt:lpstr>多模态大模型 ≠ OCR + LLM 的简单拼接</vt:lpstr>
      <vt:lpstr>多模态各能力 → 主流云服务对照（给选项，不绑一家）</vt:lpstr>
      <vt:lpstr>动手做 · HANDS-ON</vt:lpstr>
      <vt:lpstr>客户会怎么问（面试题）</vt:lpstr>
      <vt:lpstr>本章小结</vt:lpstr>
      <vt:lpstr>机器怎么「看」</vt:lpstr>
      <vt:lpstr>学完这一章，你能讲清楚</vt:lpstr>
      <vt:lpstr>模型只认 token：一张图怎么「说」给它听？</vt:lpstr>
      <vt:lpstr>Vision Transformer：把图片切成「视觉单词」</vt:lpstr>
      <vt:lpstr>CLIP：让图片和文字「在同一个空间里牵手」</vt:lpstr>
      <vt:lpstr>CLIP：图和文字，走进同一个语义空间</vt:lpstr>
      <vt:lpstr>视觉编码器：选哪款、给多少分辨率，直接影响成本</vt:lpstr>
      <vt:lpstr>动手做 · HANDS-ON</vt:lpstr>
      <vt:lpstr>客户会怎么问（面试题）</vt:lpstr>
      <vt:lpstr>本章小结</vt:lpstr>
      <vt:lpstr>模态怎么「拼」</vt:lpstr>
      <vt:lpstr>学完这一章，你能讲清楚</vt:lpstr>
      <vt:lpstr>眼睛有了，怎么接到大脑上？</vt:lpstr>
      <vt:lpstr>投影层（Projection）：给视觉装个「转接头」</vt:lpstr>
      <vt:lpstr>交叉注意力（Cross-Attention）：让大脑「侧头看图」</vt:lpstr>
      <vt:lpstr>Q-Former（BLIP-2）：先「浓缩」再喂</vt:lpstr>
      <vt:lpstr>三条融合路线：把视觉接到大脑的三种接法</vt:lpstr>
      <vt:lpstr>一张表看懂三种融合：拿什么换什么</vt:lpstr>
      <vt:lpstr>早融合 vs 晚融合：在「哪一步」把模态合起来</vt:lpstr>
      <vt:lpstr>原生多模态 vs 拼管线：客户最纠结、你最能体现价值的一页</vt:lpstr>
      <vt:lpstr>原生多模态 vs 拼管线：不是二选一</vt:lpstr>
      <vt:lpstr>三个问题，帮客户在「原生」和「拼管线」间落子</vt:lpstr>
      <vt:lpstr>动手做 · HANDS-ON</vt:lpstr>
      <vt:lpstr>客户会怎么问（面试题）</vt:lpstr>
      <vt:lpstr>本章小结</vt:lpstr>
      <vt:lpstr>理解侧能力盘点</vt:lpstr>
      <vt:lpstr>学完这一章，你能讲清楚</vt:lpstr>
      <vt:lpstr>图像理解：从「认出是什么」到「看懂在说什么」</vt:lpstr>
      <vt:lpstr>文档理解：售前最高频的落地场景</vt:lpstr>
      <vt:lpstr>视频理解：多了一个「时间」维度</vt:lpstr>
      <vt:lpstr>语音理解：从「转写」到「听懂并对话」</vt:lpstr>
      <vt:lpstr>2026 理解侧格局：闭源旗舰 vs 开源 VLM</vt:lpstr>
      <vt:lpstr>理解侧会在哪儿翻车？给客户设对预期</vt:lpstr>
      <vt:lpstr>动手做 · HANDS-ON</vt:lpstr>
      <vt:lpstr>客户会怎么问（面试题）</vt:lpstr>
      <vt:lpstr>本章小结</vt:lpstr>
      <vt:lpstr>生成侧能力盘点</vt:lpstr>
      <vt:lpstr>学完这一章，你能讲清楚</vt:lpstr>
      <vt:lpstr>扩散 vs 自回归：美术生和逻辑生</vt:lpstr>
      <vt:lpstr>原生生成：图像模型正在和 LLM「合体」</vt:lpstr>
      <vt:lpstr>文生视频：最烧钱、进步最快的方向</vt:lpstr>
      <vt:lpstr>让模型「说」：TTS 与实时语音</vt:lpstr>
      <vt:lpstr>终局形态：一个模型，任意模态进 / 任意模态出</vt:lpstr>
      <vt:lpstr>生成侧的四个「必须对客户说清」的问题</vt:lpstr>
      <vt:lpstr>生成资产：从草稿到发布的状态机</vt:lpstr>
      <vt:lpstr>动手做 · HANDS-ON</vt:lpstr>
      <vt:lpstr>客户会怎么问（面试题）</vt:lpstr>
      <vt:lpstr>本章小结</vt:lpstr>
      <vt:lpstr>选型与动手做</vt:lpstr>
      <vt:lpstr>学完这一章，你能讲清楚</vt:lpstr>
      <vt:lpstr>成本 / 延迟 / 精度：三角里选两个</vt:lpstr>
      <vt:lpstr>成本 / 延迟 / 精度：三角里只能选两个</vt:lpstr>
      <vt:lpstr>一段能跑的多模态调用：传图的两种方式</vt:lpstr>
      <vt:lpstr>一张图值多少 token？把账算给客户看</vt:lpstr>
      <vt:lpstr>为什么多模态比纯文本慢，怎么办</vt:lpstr>
      <vt:lpstr>上云两条路：调 API，还是自己部署开源 VLM？</vt:lpstr>
      <vt:lpstr>动手做 · HANDS-ON</vt:lpstr>
      <vt:lpstr>多模态请求的五层输入合同</vt:lpstr>
      <vt:lpstr>客户会怎么问（面试题）</vt:lpstr>
      <vt:lpstr>本章小结</vt:lpstr>
      <vt:lpstr>生产落地与坑</vt:lpstr>
      <vt:lpstr>学完这一章，你能讲清楚</vt:lpstr>
      <vt:lpstr>上线后账单为什么会爆？盯住视觉 token</vt:lpstr>
      <vt:lpstr>多模态特有的翻车：不只是「答错」</vt:lpstr>
      <vt:lpstr>「你怎么证明它准？」——多模态评估四把尺子</vt:lpstr>
      <vt:lpstr>跨模态提示注入：指令藏在图片里</vt:lpstr>
      <vt:lpstr>多模态上线前的一页 checklist</vt:lpstr>
      <vt:lpstr>动手做 · HANDS-ON</vt:lpstr>
      <vt:lpstr>客户会怎么问（面试题）</vt:lpstr>
      <vt:lpstr>本章小结</vt:lpstr>
      <vt:lpstr>语音与实时交互</vt:lpstr>
      <vt:lpstr>学完这一章，你能讲清楚</vt:lpstr>
      <vt:lpstr>对话的物理学：半秒沉默就是「异常」</vt:lpstr>
      <vt:lpstr>级联管线：三段接力的时延拆帐</vt:lpstr>
      <vt:lpstr>级联时延预算：首音时延花在哪</vt:lpstr>
      <vt:lpstr>端到端语音模型：2026 四家格局</vt:lpstr>
      <vt:lpstr>级联 vs 端到端：六个维度的取舍</vt:lpstr>
      <vt:lpstr>会「让话」的机器人：VAD、打断、轮次切换</vt:lpstr>
      <vt:lpstr>把声音送到位：WebRTC、电话线与两大框架</vt:lpstr>
      <vt:lpstr>成本账：一分钟语音对话多少钱</vt:lpstr>
      <vt:lpstr>上云怎么落地：链路环节 → 服务对照</vt:lpstr>
      <vt:lpstr>动手做 · HANDS-ON</vt:lpstr>
      <vt:lpstr>客户会怎么问（面试题）</vt:lpstr>
      <vt:lpstr>本章小结</vt:lpstr>
      <vt:lpstr>售前速查</vt:lpstr>
      <vt:lpstr>重点术语中英对照（中文为主）</vt:lpstr>
      <vt:lpstr>从需求到方案：一张决策树走完</vt:lpstr>
      <vt:lpstr>八个最高频问题，一页备好</vt:lpstr>
      <vt:lpstr>多模态在知识库里的位置：和谁握手</vt:lpstr>
      <vt:lpstr>生产验收</vt:lpstr>
      <vt:lpstr>从「看/听怎么变成 token」→「模态怎么拼」→「盘能力」→「选型落地」，一条线讲透。</vt:lpstr>
      <vt:lpstr>来源与核实</vt:lpstr>
      <vt:lpstr>本章小结</vt:lpstr>
      <vt:lpstr>客户会怎么问</vt:lpstr>
      <vt:lpstr>动手做</vt:lpstr>
      <vt:lpstr>风险与合规</vt:lpstr>
      <vt:lpstr>落地工作流</vt:lpstr>
      <vt:lpstr>成本账</vt:lpstr>
      <vt:lpstr>格局盘点</vt:lpstr>
      <vt:lpstr>三大难</vt:lpstr>
      <vt:lpstr>学习目标</vt:lpstr>
      <vt:lpstr>第 9 章 视频生成</vt:lpstr>
      <vt:lpstr>上云追问卡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